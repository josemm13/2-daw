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2614" autoAdjust="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C023A-30DC-44F6-A9A5-319D44A3A782}" type="datetimeFigureOut">
              <a:rPr lang="es-ES" smtClean="0"/>
              <a:t>06/11/2025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149E7-C7EE-4CCF-8B10-89FF9069E41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580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149E7-C7EE-4CCF-8B10-89FF9069E411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287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21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42.png"/><Relationship Id="rId21" Type="http://schemas.openxmlformats.org/officeDocument/2006/relationships/image" Target="../media/image67.png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51.png"/><Relationship Id="rId16" Type="http://schemas.openxmlformats.org/officeDocument/2006/relationships/image" Target="../media/image63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10" Type="http://schemas.openxmlformats.org/officeDocument/2006/relationships/image" Target="../media/image46.png"/><Relationship Id="rId19" Type="http://schemas.openxmlformats.org/officeDocument/2006/relationships/image" Target="../media/image3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0.png"/><Relationship Id="rId3" Type="http://schemas.openxmlformats.org/officeDocument/2006/relationships/image" Target="../media/image69.png"/><Relationship Id="rId21" Type="http://schemas.openxmlformats.org/officeDocument/2006/relationships/image" Target="../media/image82.png"/><Relationship Id="rId7" Type="http://schemas.openxmlformats.org/officeDocument/2006/relationships/image" Target="../media/image46.png"/><Relationship Id="rId12" Type="http://schemas.openxmlformats.org/officeDocument/2006/relationships/image" Target="../media/image75.png"/><Relationship Id="rId17" Type="http://schemas.openxmlformats.org/officeDocument/2006/relationships/image" Target="../media/image79.png"/><Relationship Id="rId25" Type="http://schemas.openxmlformats.org/officeDocument/2006/relationships/image" Target="../media/image85.png"/><Relationship Id="rId2" Type="http://schemas.openxmlformats.org/officeDocument/2006/relationships/image" Target="../media/image68.png"/><Relationship Id="rId16" Type="http://schemas.openxmlformats.org/officeDocument/2006/relationships/image" Target="../media/image78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74.png"/><Relationship Id="rId24" Type="http://schemas.openxmlformats.org/officeDocument/2006/relationships/image" Target="../media/image84.png"/><Relationship Id="rId5" Type="http://schemas.openxmlformats.org/officeDocument/2006/relationships/image" Target="../media/image70.png"/><Relationship Id="rId15" Type="http://schemas.openxmlformats.org/officeDocument/2006/relationships/image" Target="../media/image40.png"/><Relationship Id="rId23" Type="http://schemas.openxmlformats.org/officeDocument/2006/relationships/image" Target="../media/image36.png"/><Relationship Id="rId10" Type="http://schemas.openxmlformats.org/officeDocument/2006/relationships/image" Target="../media/image73.png"/><Relationship Id="rId19" Type="http://schemas.openxmlformats.org/officeDocument/2006/relationships/image" Target="../media/image56.png"/><Relationship Id="rId4" Type="http://schemas.openxmlformats.org/officeDocument/2006/relationships/image" Target="../media/image49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56.png"/><Relationship Id="rId7" Type="http://schemas.openxmlformats.org/officeDocument/2006/relationships/image" Target="../media/image53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86.png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11" Type="http://schemas.openxmlformats.org/officeDocument/2006/relationships/image" Target="../media/image91.png"/><Relationship Id="rId5" Type="http://schemas.openxmlformats.org/officeDocument/2006/relationships/image" Target="../media/image40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4" Type="http://schemas.openxmlformats.org/officeDocument/2006/relationships/image" Target="../media/image87.png"/><Relationship Id="rId9" Type="http://schemas.openxmlformats.org/officeDocument/2006/relationships/image" Target="../media/image75.png"/><Relationship Id="rId14" Type="http://schemas.openxmlformats.org/officeDocument/2006/relationships/image" Target="../media/image9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0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109.png"/><Relationship Id="rId17" Type="http://schemas.openxmlformats.org/officeDocument/2006/relationships/image" Target="../media/image113.png"/><Relationship Id="rId2" Type="http://schemas.openxmlformats.org/officeDocument/2006/relationships/image" Target="../media/image92.pn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8.png"/><Relationship Id="rId5" Type="http://schemas.openxmlformats.org/officeDocument/2006/relationships/image" Target="../media/image103.png"/><Relationship Id="rId15" Type="http://schemas.openxmlformats.org/officeDocument/2006/relationships/image" Target="../media/image111.png"/><Relationship Id="rId10" Type="http://schemas.openxmlformats.org/officeDocument/2006/relationships/image" Target="../media/image23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54.png"/><Relationship Id="rId7" Type="http://schemas.openxmlformats.org/officeDocument/2006/relationships/image" Target="../media/image1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5" Type="http://schemas.openxmlformats.org/officeDocument/2006/relationships/image" Target="../media/image58.png"/><Relationship Id="rId4" Type="http://schemas.openxmlformats.org/officeDocument/2006/relationships/image" Target="../media/image47.png"/><Relationship Id="rId9" Type="http://schemas.openxmlformats.org/officeDocument/2006/relationships/image" Target="../media/image1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9.png"/><Relationship Id="rId7" Type="http://schemas.openxmlformats.org/officeDocument/2006/relationships/image" Target="../media/image121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6.png"/><Relationship Id="rId4" Type="http://schemas.openxmlformats.org/officeDocument/2006/relationships/image" Target="../media/image23.png"/><Relationship Id="rId9" Type="http://schemas.openxmlformats.org/officeDocument/2006/relationships/image" Target="../media/image1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16.png"/><Relationship Id="rId17" Type="http://schemas.openxmlformats.org/officeDocument/2006/relationships/image" Target="../media/image134.png"/><Relationship Id="rId2" Type="http://schemas.openxmlformats.org/officeDocument/2006/relationships/image" Target="../media/image51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93.png"/><Relationship Id="rId5" Type="http://schemas.openxmlformats.org/officeDocument/2006/relationships/image" Target="../media/image126.png"/><Relationship Id="rId15" Type="http://schemas.openxmlformats.org/officeDocument/2006/relationships/image" Target="../media/image132.png"/><Relationship Id="rId10" Type="http://schemas.openxmlformats.org/officeDocument/2006/relationships/image" Target="../media/image111.png"/><Relationship Id="rId19" Type="http://schemas.openxmlformats.org/officeDocument/2006/relationships/image" Target="../media/image136.png"/><Relationship Id="rId4" Type="http://schemas.openxmlformats.org/officeDocument/2006/relationships/image" Target="../media/image125.png"/><Relationship Id="rId9" Type="http://schemas.openxmlformats.org/officeDocument/2006/relationships/image" Target="../media/image129.png"/><Relationship Id="rId14" Type="http://schemas.openxmlformats.org/officeDocument/2006/relationships/image" Target="../media/image1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41.png"/><Relationship Id="rId18" Type="http://schemas.openxmlformats.org/officeDocument/2006/relationships/image" Target="../media/image145.png"/><Relationship Id="rId3" Type="http://schemas.openxmlformats.org/officeDocument/2006/relationships/image" Target="../media/image102.png"/><Relationship Id="rId7" Type="http://schemas.openxmlformats.org/officeDocument/2006/relationships/image" Target="../media/image114.png"/><Relationship Id="rId12" Type="http://schemas.openxmlformats.org/officeDocument/2006/relationships/image" Target="../media/image116.png"/><Relationship Id="rId17" Type="http://schemas.openxmlformats.org/officeDocument/2006/relationships/image" Target="../media/image144.png"/><Relationship Id="rId2" Type="http://schemas.openxmlformats.org/officeDocument/2006/relationships/image" Target="../media/image55.png"/><Relationship Id="rId16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11" Type="http://schemas.openxmlformats.org/officeDocument/2006/relationships/image" Target="../media/image93.png"/><Relationship Id="rId5" Type="http://schemas.openxmlformats.org/officeDocument/2006/relationships/image" Target="../media/image125.png"/><Relationship Id="rId15" Type="http://schemas.openxmlformats.org/officeDocument/2006/relationships/image" Target="../media/image132.png"/><Relationship Id="rId10" Type="http://schemas.openxmlformats.org/officeDocument/2006/relationships/image" Target="../media/image140.png"/><Relationship Id="rId19" Type="http://schemas.openxmlformats.org/officeDocument/2006/relationships/image" Target="../media/image146.png"/><Relationship Id="rId4" Type="http://schemas.openxmlformats.org/officeDocument/2006/relationships/image" Target="../media/image137.png"/><Relationship Id="rId9" Type="http://schemas.openxmlformats.org/officeDocument/2006/relationships/image" Target="../media/image139.png"/><Relationship Id="rId14" Type="http://schemas.openxmlformats.org/officeDocument/2006/relationships/image" Target="../media/image1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5.png"/><Relationship Id="rId18" Type="http://schemas.openxmlformats.org/officeDocument/2006/relationships/image" Target="../media/image158.png"/><Relationship Id="rId3" Type="http://schemas.openxmlformats.org/officeDocument/2006/relationships/image" Target="../media/image147.png"/><Relationship Id="rId21" Type="http://schemas.openxmlformats.org/officeDocument/2006/relationships/image" Target="../media/image143.png"/><Relationship Id="rId7" Type="http://schemas.openxmlformats.org/officeDocument/2006/relationships/image" Target="../media/image150.png"/><Relationship Id="rId12" Type="http://schemas.openxmlformats.org/officeDocument/2006/relationships/image" Target="../media/image154.png"/><Relationship Id="rId17" Type="http://schemas.openxmlformats.org/officeDocument/2006/relationships/image" Target="../media/image141.png"/><Relationship Id="rId2" Type="http://schemas.openxmlformats.org/officeDocument/2006/relationships/image" Target="../media/image59.png"/><Relationship Id="rId16" Type="http://schemas.openxmlformats.org/officeDocument/2006/relationships/image" Target="../media/image116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png"/><Relationship Id="rId11" Type="http://schemas.openxmlformats.org/officeDocument/2006/relationships/image" Target="../media/image128.png"/><Relationship Id="rId5" Type="http://schemas.openxmlformats.org/officeDocument/2006/relationships/image" Target="../media/image142.png"/><Relationship Id="rId15" Type="http://schemas.openxmlformats.org/officeDocument/2006/relationships/image" Target="../media/image157.png"/><Relationship Id="rId10" Type="http://schemas.openxmlformats.org/officeDocument/2006/relationships/image" Target="../media/image153.png"/><Relationship Id="rId19" Type="http://schemas.openxmlformats.org/officeDocument/2006/relationships/image" Target="../media/image132.png"/><Relationship Id="rId4" Type="http://schemas.openxmlformats.org/officeDocument/2006/relationships/image" Target="../media/image148.png"/><Relationship Id="rId9" Type="http://schemas.openxmlformats.org/officeDocument/2006/relationships/image" Target="../media/image152.png"/><Relationship Id="rId14" Type="http://schemas.openxmlformats.org/officeDocument/2006/relationships/image" Target="../media/image1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116.png"/><Relationship Id="rId18" Type="http://schemas.openxmlformats.org/officeDocument/2006/relationships/image" Target="../media/image164.png"/><Relationship Id="rId3" Type="http://schemas.openxmlformats.org/officeDocument/2006/relationships/image" Target="../media/image64.png"/><Relationship Id="rId7" Type="http://schemas.openxmlformats.org/officeDocument/2006/relationships/image" Target="../media/image160.png"/><Relationship Id="rId12" Type="http://schemas.openxmlformats.org/officeDocument/2006/relationships/image" Target="../media/image93.png"/><Relationship Id="rId17" Type="http://schemas.openxmlformats.org/officeDocument/2006/relationships/image" Target="../media/image16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2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11" Type="http://schemas.openxmlformats.org/officeDocument/2006/relationships/image" Target="../media/image103.png"/><Relationship Id="rId5" Type="http://schemas.openxmlformats.org/officeDocument/2006/relationships/image" Target="../media/image126.png"/><Relationship Id="rId15" Type="http://schemas.openxmlformats.org/officeDocument/2006/relationships/image" Target="../media/image162.png"/><Relationship Id="rId10" Type="http://schemas.openxmlformats.org/officeDocument/2006/relationships/image" Target="../media/image138.png"/><Relationship Id="rId19" Type="http://schemas.openxmlformats.org/officeDocument/2006/relationships/image" Target="../media/image82.png"/><Relationship Id="rId4" Type="http://schemas.openxmlformats.org/officeDocument/2006/relationships/image" Target="../media/image159.png"/><Relationship Id="rId9" Type="http://schemas.openxmlformats.org/officeDocument/2006/relationships/image" Target="../media/image161.png"/><Relationship Id="rId14" Type="http://schemas.openxmlformats.org/officeDocument/2006/relationships/image" Target="../media/image10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7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5" Type="http://schemas.openxmlformats.org/officeDocument/2006/relationships/image" Target="../media/image171.png"/><Relationship Id="rId10" Type="http://schemas.openxmlformats.org/officeDocument/2006/relationships/image" Target="../media/image176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78.png"/><Relationship Id="rId18" Type="http://schemas.openxmlformats.org/officeDocument/2006/relationships/image" Target="../media/image194.png"/><Relationship Id="rId3" Type="http://schemas.openxmlformats.org/officeDocument/2006/relationships/image" Target="../media/image181.png"/><Relationship Id="rId21" Type="http://schemas.openxmlformats.org/officeDocument/2006/relationships/image" Target="../media/image197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3.png"/><Relationship Id="rId2" Type="http://schemas.openxmlformats.org/officeDocument/2006/relationships/image" Target="../media/image23.png"/><Relationship Id="rId16" Type="http://schemas.openxmlformats.org/officeDocument/2006/relationships/image" Target="../media/image192.png"/><Relationship Id="rId20" Type="http://schemas.openxmlformats.org/officeDocument/2006/relationships/image" Target="../media/image1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88.png"/><Relationship Id="rId5" Type="http://schemas.openxmlformats.org/officeDocument/2006/relationships/image" Target="../media/image183.png"/><Relationship Id="rId15" Type="http://schemas.openxmlformats.org/officeDocument/2006/relationships/image" Target="../media/image191.png"/><Relationship Id="rId10" Type="http://schemas.openxmlformats.org/officeDocument/2006/relationships/image" Target="../media/image187.png"/><Relationship Id="rId19" Type="http://schemas.openxmlformats.org/officeDocument/2006/relationships/image" Target="../media/image195.png"/><Relationship Id="rId4" Type="http://schemas.openxmlformats.org/officeDocument/2006/relationships/image" Target="../media/image182.png"/><Relationship Id="rId9" Type="http://schemas.openxmlformats.org/officeDocument/2006/relationships/image" Target="../media/image186.png"/><Relationship Id="rId14" Type="http://schemas.openxmlformats.org/officeDocument/2006/relationships/image" Target="../media/image1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205.png"/><Relationship Id="rId3" Type="http://schemas.openxmlformats.org/officeDocument/2006/relationships/image" Target="../media/image199.png"/><Relationship Id="rId7" Type="http://schemas.openxmlformats.org/officeDocument/2006/relationships/image" Target="../media/image20.png"/><Relationship Id="rId12" Type="http://schemas.openxmlformats.org/officeDocument/2006/relationships/image" Target="../media/image204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.png"/><Relationship Id="rId11" Type="http://schemas.openxmlformats.org/officeDocument/2006/relationships/image" Target="../media/image203.png"/><Relationship Id="rId5" Type="http://schemas.openxmlformats.org/officeDocument/2006/relationships/image" Target="../media/image200.png"/><Relationship Id="rId10" Type="http://schemas.openxmlformats.org/officeDocument/2006/relationships/image" Target="../media/image92.png"/><Relationship Id="rId4" Type="http://schemas.openxmlformats.org/officeDocument/2006/relationships/image" Target="../media/image64.png"/><Relationship Id="rId9" Type="http://schemas.openxmlformats.org/officeDocument/2006/relationships/image" Target="../media/image20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6.png"/><Relationship Id="rId18" Type="http://schemas.openxmlformats.org/officeDocument/2006/relationships/image" Target="../media/image219.png"/><Relationship Id="rId3" Type="http://schemas.openxmlformats.org/officeDocument/2006/relationships/image" Target="../media/image207.png"/><Relationship Id="rId7" Type="http://schemas.openxmlformats.org/officeDocument/2006/relationships/image" Target="../media/image210.png"/><Relationship Id="rId12" Type="http://schemas.openxmlformats.org/officeDocument/2006/relationships/image" Target="../media/image215.png"/><Relationship Id="rId17" Type="http://schemas.openxmlformats.org/officeDocument/2006/relationships/image" Target="../media/image116.png"/><Relationship Id="rId2" Type="http://schemas.openxmlformats.org/officeDocument/2006/relationships/image" Target="../media/image206.png"/><Relationship Id="rId16" Type="http://schemas.openxmlformats.org/officeDocument/2006/relationships/image" Target="../media/image2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.png"/><Relationship Id="rId11" Type="http://schemas.openxmlformats.org/officeDocument/2006/relationships/image" Target="../media/image214.png"/><Relationship Id="rId5" Type="http://schemas.openxmlformats.org/officeDocument/2006/relationships/image" Target="../media/image208.png"/><Relationship Id="rId15" Type="http://schemas.openxmlformats.org/officeDocument/2006/relationships/image" Target="../media/image217.png"/><Relationship Id="rId10" Type="http://schemas.openxmlformats.org/officeDocument/2006/relationships/image" Target="../media/image213.png"/><Relationship Id="rId19" Type="http://schemas.openxmlformats.org/officeDocument/2006/relationships/image" Target="../media/image220.png"/><Relationship Id="rId4" Type="http://schemas.openxmlformats.org/officeDocument/2006/relationships/image" Target="../media/image102.png"/><Relationship Id="rId9" Type="http://schemas.openxmlformats.org/officeDocument/2006/relationships/image" Target="../media/image212.png"/><Relationship Id="rId14" Type="http://schemas.openxmlformats.org/officeDocument/2006/relationships/image" Target="../media/image1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D8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609" y="1628156"/>
            <a:ext cx="952476" cy="6679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813" y="2857500"/>
            <a:ext cx="9267593" cy="1466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950"/>
              </a:spcAft>
            </a:pPr>
            <a:r>
              <a:rPr sz="3827" b="1">
                <a:solidFill>
                  <a:srgbClr val="FFFFFF"/>
                </a:solidFill>
              </a:rPr>
              <a:t>Computación en la Nube: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</a:rPr>
              <a:t>Conceptos, Modelos y Aplicaciones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3746" y="4600575"/>
            <a:ext cx="3914677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0"/>
              </a:spcAft>
            </a:pPr>
            <a:r>
              <a:rPr sz="1435" b="0">
                <a:solidFill>
                  <a:srgbClr val="E0F2FF"/>
                </a:solidFill>
              </a:rPr>
              <a:t>Una visión integral de la tecnología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4952999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349558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392" b="1">
                <a:solidFill>
                  <a:srgbClr val="FFFFFF"/>
                </a:solidFill>
              </a:rPr>
              <a:t>Índice de Contenidos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809749"/>
            <a:ext cx="5714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FC3F7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28714" y="18097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2060" y="1987061"/>
            <a:ext cx="304792" cy="216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0695" y="1924049"/>
            <a:ext cx="291457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</a:rPr>
              <a:t>Conceptos fundamentales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667000"/>
            <a:ext cx="5714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FC3F7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14" y="26670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060" y="2823796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90695" y="2781300"/>
            <a:ext cx="190495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</a:rPr>
              <a:t>Modelos de nube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3524250"/>
            <a:ext cx="5714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FC3F7"/>
                </a:solidFill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14" y="3524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060" y="3701561"/>
            <a:ext cx="304792" cy="2168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0695" y="3638550"/>
            <a:ext cx="221926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</a:rPr>
              <a:t>Servicios en la nube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" y="4381499"/>
            <a:ext cx="5714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FC3F7"/>
                </a:solidFill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14" y="4381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2060" y="4550019"/>
            <a:ext cx="304792" cy="23446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0695" y="4495799"/>
            <a:ext cx="244786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</a:rPr>
              <a:t>Edge y Fog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33" y="5238749"/>
            <a:ext cx="5714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FC3F7"/>
                </a:solidFill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8714" y="52387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2060" y="5442438"/>
            <a:ext cx="304792" cy="1641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90695" y="5353049"/>
            <a:ext cx="230499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</a:rPr>
              <a:t>Impacto empresarial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4952999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5886302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¿Qué es la computación en la nube?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238249"/>
            <a:ext cx="5238619" cy="857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FFFFFF"/>
                </a:solidFill>
              </a:rPr>
              <a:t>Provisión de recursos informáticos —servidores, almacenamiento, bases de datos, redes, software y análisis— a través de Internet, permitiendo acceso sin gestión física.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2381250"/>
            <a:ext cx="523861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Transformación de CAPEX a OPEX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771775"/>
            <a:ext cx="5238619" cy="857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FFFFFF"/>
                </a:solidFill>
              </a:rPr>
              <a:t>La nube traslada la inversión inicial (CAPEX) a gastos operativos (OPEX), habilitando experimentación barata y escalabilidad bajo demanda.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342" y="22193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91115" y="2332796"/>
            <a:ext cx="266693" cy="2493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53076" y="2219324"/>
            <a:ext cx="45718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Elasticidad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076" y="2533649"/>
            <a:ext cx="45718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Ajuste dinámico de recursos según demanda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342" y="29908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115" y="3115917"/>
            <a:ext cx="266693" cy="2261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53076" y="2990849"/>
            <a:ext cx="45718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Autoservicio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076" y="3305174"/>
            <a:ext cx="45718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Aprovisionamiento inmediato sin intervención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37623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1115" y="3906285"/>
            <a:ext cx="266693" cy="1884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53076" y="3762374"/>
            <a:ext cx="45718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Medición de servicios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076" y="4076699"/>
            <a:ext cx="45718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Pago únicamente por recursos consumidos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342" y="45339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1115" y="4658967"/>
            <a:ext cx="266693" cy="2261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53076" y="4533900"/>
            <a:ext cx="45718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Acceso ubicuo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3076" y="4848225"/>
            <a:ext cx="45718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Disponibilidad desde cualquier dispositivo conectado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4952999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425756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Evolución y antecedentes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286242" cy="2381250"/>
          </a:xfrm>
          <a:prstGeom prst="roundRect">
            <a:avLst>
              <a:gd name="adj" fmla="val 96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4852" y="1476375"/>
            <a:ext cx="481000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4FC3F7"/>
                </a:solidFill>
              </a:rPr>
              <a:t>1960s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52" y="2190749"/>
            <a:ext cx="481000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Mainframes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2247485"/>
            <a:ext cx="266693" cy="19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4852" y="2628900"/>
            <a:ext cx="48100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John McCarthy y pioneros proponen "computación como servicio"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30620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90595" y="3028950"/>
            <a:ext cx="260978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Compartir tiempo de procesamiento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19" y="1238249"/>
            <a:ext cx="5286242" cy="2381250"/>
          </a:xfrm>
          <a:prstGeom prst="roundRect">
            <a:avLst>
              <a:gd name="adj" fmla="val 96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6838" y="1476375"/>
            <a:ext cx="481000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4FC3F7"/>
                </a:solidFill>
              </a:rPr>
              <a:t>1990s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2190749"/>
            <a:ext cx="481000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Expansión de Internet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838" y="2230092"/>
            <a:ext cx="266693" cy="2261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6838" y="2628900"/>
            <a:ext cx="48100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Salesforce lanza primer modelo SaaS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8" y="3062007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62580" y="3028950"/>
            <a:ext cx="226689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Acceso web sin instalación local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905249"/>
            <a:ext cx="5286242" cy="2381250"/>
          </a:xfrm>
          <a:prstGeom prst="roundRect">
            <a:avLst>
              <a:gd name="adj" fmla="val 96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4852" y="4143375"/>
            <a:ext cx="481000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4FC3F7"/>
                </a:solidFill>
              </a:rPr>
              <a:t>2006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52" y="4857750"/>
            <a:ext cx="481000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Nube Pública Moderna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4914485"/>
            <a:ext cx="266693" cy="1913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4852" y="5295899"/>
            <a:ext cx="48100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Amazon Web Services (AWS) inicia era de nube pública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572900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90595" y="5695949"/>
            <a:ext cx="279075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Recursos bajo demanda y pago por uso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719" y="3905249"/>
            <a:ext cx="5286242" cy="2381250"/>
          </a:xfrm>
          <a:prstGeom prst="roundRect">
            <a:avLst>
              <a:gd name="adj" fmla="val 96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6838" y="4143375"/>
            <a:ext cx="481000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4FC3F7"/>
                </a:solidFill>
              </a:rPr>
              <a:t>Actualidad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6838" y="4857750"/>
            <a:ext cx="481000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Tendencias Emergentes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6838" y="4937677"/>
            <a:ext cx="266693" cy="14494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6838" y="5295899"/>
            <a:ext cx="48100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Multicloud, híbrida, edge computing, FinOps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8" y="572900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62580" y="5695949"/>
            <a:ext cx="34670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Combinación de seguridad, coste y escalabilidad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5276850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7143571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Ventajas frente a la informática tradicional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286242" cy="167640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39032"/>
            <a:ext cx="304792" cy="246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33" y="1476375"/>
            <a:ext cx="40480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Reducción de costes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33" y="1866899"/>
            <a:ext cx="4048023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Transformación de </a:t>
            </a:r>
            <a:r>
              <a:rPr sz="1076" b="1">
                <a:solidFill>
                  <a:srgbClr val="FFFFFF"/>
                </a:solidFill>
              </a:rPr>
              <a:t>CAPEX a OPEX</a:t>
            </a:r>
            <a:r>
              <a:rPr sz="1076" b="0">
                <a:solidFill>
                  <a:srgbClr val="FFFFFF"/>
                </a:solidFill>
              </a:rPr>
              <a:t>, eliminando inversión inicial en hardware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33" y="2438400"/>
            <a:ext cx="404802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</a:rPr>
              <a:t> Hasta 40% menos en costes operativos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833" y="2508997"/>
            <a:ext cx="190495" cy="10645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719" y="1238249"/>
            <a:ext cx="5286242" cy="167640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7683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184" y="1618517"/>
            <a:ext cx="304792" cy="2872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8819" y="1476375"/>
            <a:ext cx="40480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Escalabilidad instantánea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19" y="1866899"/>
            <a:ext cx="4048023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Ajuste dinámico de recursos según demanda, sin interrupciones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819" y="2438400"/>
            <a:ext cx="404802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</a:rPr>
              <a:t> Escalado en minutos vs semanas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8819" y="2493588"/>
            <a:ext cx="190495" cy="1372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66733" y="3200400"/>
            <a:ext cx="5286242" cy="167640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852" y="3438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8199" y="3595321"/>
            <a:ext cx="304792" cy="2579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33" y="3438525"/>
            <a:ext cx="40480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Accesibilidad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33" y="3829050"/>
            <a:ext cx="4048023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Acceso desde cualquier dispositivo con conexión a 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33" y="4410074"/>
            <a:ext cx="404802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</a:rPr>
              <a:t> Colaboración sin barreras geográficas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6833" y="4471147"/>
            <a:ext cx="190495" cy="106455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238719" y="3200400"/>
            <a:ext cx="5286242" cy="167640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76838" y="3438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0184" y="3580667"/>
            <a:ext cx="304792" cy="2872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38819" y="3438525"/>
            <a:ext cx="40480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Resiliencia y continuidad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8819" y="3829050"/>
            <a:ext cx="4048023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Copias de seguridad automáticas y recuperación ante desastres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8819" y="4410074"/>
            <a:ext cx="404802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</a:rPr>
              <a:t> Reducción del tiempo de inactividad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38819" y="4438930"/>
            <a:ext cx="190495" cy="170889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66733" y="5172075"/>
            <a:ext cx="10858228" cy="1438274"/>
          </a:xfrm>
          <a:prstGeom prst="roundRect">
            <a:avLst>
              <a:gd name="adj" fmla="val 1589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04852" y="54101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8199" y="5566996"/>
            <a:ext cx="304792" cy="2579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66833" y="5410199"/>
            <a:ext cx="962000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Fomento de la innovación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6833" y="5800725"/>
            <a:ext cx="962000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Acceso a tecnologías avanzadas: IA, Big Data, IoT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66833" y="6134100"/>
            <a:ext cx="962000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</a:rPr>
              <a:t> Aceleración del time-to-market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66833" y="6168558"/>
            <a:ext cx="190495" cy="1596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4952999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5324341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Desafíos y limitaciones actuales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286242" cy="1495424"/>
          </a:xfrm>
          <a:prstGeom prst="roundRect">
            <a:avLst>
              <a:gd name="adj" fmla="val 1528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18517"/>
            <a:ext cx="304792" cy="2872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33" y="1476375"/>
            <a:ext cx="40480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Seguridad y privacidad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33" y="1866899"/>
            <a:ext cx="404802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Riesgos de </a:t>
            </a:r>
            <a:r>
              <a:rPr sz="1076" b="1">
                <a:solidFill>
                  <a:srgbClr val="FFFFFF"/>
                </a:solidFill>
              </a:rPr>
              <a:t>ciberataques</a:t>
            </a:r>
            <a:r>
              <a:rPr sz="1076" b="0">
                <a:solidFill>
                  <a:srgbClr val="FFFFFF"/>
                </a:solidFill>
              </a:rPr>
              <a:t> y cumplimiento normativo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33" y="2200275"/>
            <a:ext cx="404802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Cifrado, auditorías y políticas de acceso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833" y="2224927"/>
            <a:ext cx="190495" cy="17929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719" y="1238249"/>
            <a:ext cx="5286242" cy="1495424"/>
          </a:xfrm>
          <a:prstGeom prst="roundRect">
            <a:avLst>
              <a:gd name="adj" fmla="val 1528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7683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184" y="1644894"/>
            <a:ext cx="304792" cy="2344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8819" y="1476375"/>
            <a:ext cx="40480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Gestión de costes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19" y="1866899"/>
            <a:ext cx="404802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Gastos </a:t>
            </a:r>
            <a:r>
              <a:rPr sz="1076" b="1">
                <a:solidFill>
                  <a:srgbClr val="FFFFFF"/>
                </a:solidFill>
              </a:rPr>
              <a:t>inesperados</a:t>
            </a:r>
            <a:r>
              <a:rPr sz="1076" b="0">
                <a:solidFill>
                  <a:srgbClr val="FFFFFF"/>
                </a:solidFill>
              </a:rPr>
              <a:t> en entornos multicloud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819" y="2200275"/>
            <a:ext cx="404802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Monitorización y control de recursos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8819" y="2238935"/>
            <a:ext cx="190495" cy="15127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66733" y="3019424"/>
            <a:ext cx="5286242" cy="1495424"/>
          </a:xfrm>
          <a:prstGeom prst="roundRect">
            <a:avLst>
              <a:gd name="adj" fmla="val 1528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852" y="32575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8199" y="3449515"/>
            <a:ext cx="304792" cy="18756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33" y="3257550"/>
            <a:ext cx="40480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Interoperabilidad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33" y="3648074"/>
            <a:ext cx="404802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Migración </a:t>
            </a:r>
            <a:r>
              <a:rPr sz="1076" b="1">
                <a:solidFill>
                  <a:srgbClr val="FFFFFF"/>
                </a:solidFill>
              </a:rPr>
              <a:t>compleja</a:t>
            </a:r>
            <a:r>
              <a:rPr sz="1076" b="0">
                <a:solidFill>
                  <a:srgbClr val="FFFFFF"/>
                </a:solidFill>
              </a:rPr>
              <a:t> entre diferentes nubes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33" y="3981449"/>
            <a:ext cx="404802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Estándares y planificación estratégica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6833" y="4003581"/>
            <a:ext cx="190495" cy="1652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238719" y="3019424"/>
            <a:ext cx="5286242" cy="1495424"/>
          </a:xfrm>
          <a:prstGeom prst="roundRect">
            <a:avLst>
              <a:gd name="adj" fmla="val 1528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76838" y="32575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0184" y="3424603"/>
            <a:ext cx="304792" cy="2373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38819" y="3257550"/>
            <a:ext cx="40480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Dependencia del proveedor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8819" y="3648074"/>
            <a:ext cx="404802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Interrupciones de servicio y </a:t>
            </a:r>
            <a:r>
              <a:rPr sz="1076" b="1">
                <a:solidFill>
                  <a:srgbClr val="FFFFFF"/>
                </a:solidFill>
              </a:rPr>
              <a:t>vendor lock-in</a:t>
            </a:r>
            <a:r>
              <a:rPr sz="1076" b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8819" y="3981449"/>
            <a:ext cx="404802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Estrategias multicloud y portabilidad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38819" y="4004982"/>
            <a:ext cx="190495" cy="16248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66733" y="4791075"/>
            <a:ext cx="10858228" cy="1495424"/>
          </a:xfrm>
          <a:prstGeom prst="roundRect">
            <a:avLst>
              <a:gd name="adj" fmla="val 1528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04852" y="50292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8199" y="5207976"/>
            <a:ext cx="304792" cy="21394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66833" y="5029200"/>
            <a:ext cx="962000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Latencia y conectividad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6833" y="5419725"/>
            <a:ext cx="962000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Dependencia de </a:t>
            </a:r>
            <a:r>
              <a:rPr sz="1076" b="1">
                <a:solidFill>
                  <a:srgbClr val="FFFFFF"/>
                </a:solidFill>
              </a:rPr>
              <a:t>conexión a Internet</a:t>
            </a:r>
            <a:r>
              <a:rPr sz="1076" b="0">
                <a:solidFill>
                  <a:srgbClr val="FFFFFF"/>
                </a:solidFill>
              </a:rPr>
              <a:t> para rendimiento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66833" y="5753099"/>
            <a:ext cx="962000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Edge computing y redundancia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66833" y="5791760"/>
            <a:ext cx="190495" cy="151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5819775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2819329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Modelos de nube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314817" cy="297180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3317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9209" y="1590675"/>
            <a:ext cx="151443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Nube pública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52" y="2190749"/>
            <a:ext cx="4838579" cy="1266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Recursos propiedad de proveedores externos, compartidos entre múltiples clientes con entornos virtualizados y aislados.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852" y="3600450"/>
            <a:ext cx="2066873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852" y="3600450"/>
            <a:ext cx="206687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Escalabilidad máxima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3731649"/>
            <a:ext cx="171445" cy="9955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066973" y="3600450"/>
            <a:ext cx="1428714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6973" y="3600450"/>
            <a:ext cx="142871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Pago por uso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9844" y="3717822"/>
            <a:ext cx="171445" cy="12720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600459" y="3600450"/>
            <a:ext cx="1085822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00459" y="3600450"/>
            <a:ext cx="108582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Agilidad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3331" y="3712291"/>
            <a:ext cx="171445" cy="13826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10144" y="1238249"/>
            <a:ext cx="5314817" cy="297180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5778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135" y="1625844"/>
            <a:ext cx="304792" cy="2725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62620" y="1590675"/>
            <a:ext cx="153348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Nube privada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788" y="2190749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Infraestructura dedicada para uso exclusivo de una sola organización, con control total sobre recursos y políticas de seguridad.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57788" y="3133724"/>
            <a:ext cx="1409664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7788" y="3133724"/>
            <a:ext cx="140966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Control total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1135" y="3244030"/>
            <a:ext cx="171445" cy="16038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953176" y="3133724"/>
            <a:ext cx="1533486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3176" y="3133724"/>
            <a:ext cx="153348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Alta seguridad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047" y="3244030"/>
            <a:ext cx="171445" cy="16038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457788" y="3600450"/>
            <a:ext cx="2247843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57788" y="3600450"/>
            <a:ext cx="224784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Personalización máxima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1135" y="3706761"/>
            <a:ext cx="171445" cy="149327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66733" y="4448175"/>
            <a:ext cx="5314817" cy="2705099"/>
          </a:xfrm>
          <a:prstGeom prst="roundRect">
            <a:avLst>
              <a:gd name="adj" fmla="val 845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04852" y="46863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8199" y="4878265"/>
            <a:ext cx="304792" cy="1875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19209" y="4800600"/>
            <a:ext cx="148586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Nube híbrida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852" y="5400675"/>
            <a:ext cx="4838579" cy="10001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Combinación de nube pública y privada, permitiendo ubicar cargas según criterios de seguridad, coste y rendimiento.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852" y="6543675"/>
            <a:ext cx="1333466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4852" y="6543675"/>
            <a:ext cx="133346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Flexibilidad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7723" y="6662276"/>
            <a:ext cx="171445" cy="14379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2333566" y="6543675"/>
            <a:ext cx="1562060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33566" y="6543675"/>
            <a:ext cx="156206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Cloud bursting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76438" y="6678868"/>
            <a:ext cx="171445" cy="11061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3990875" y="6543675"/>
            <a:ext cx="1390615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90875" y="6543675"/>
            <a:ext cx="139061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Portabilidad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33746" y="6653980"/>
            <a:ext cx="171445" cy="160388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6210144" y="4448175"/>
            <a:ext cx="5314817" cy="2705099"/>
          </a:xfrm>
          <a:prstGeom prst="roundRect">
            <a:avLst>
              <a:gd name="adj" fmla="val 845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457788" y="46863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591135" y="4889988"/>
            <a:ext cx="304792" cy="16412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162620" y="4800600"/>
            <a:ext cx="20573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Nube comunitaria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7788" y="5400675"/>
            <a:ext cx="483857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Infraestructura compartida por varias organizaciones con intereses comunes, optimizando recursos y costes.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57788" y="6076950"/>
            <a:ext cx="1466813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57788" y="6076950"/>
            <a:ext cx="146681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Colaboración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591135" y="6188791"/>
            <a:ext cx="171445" cy="138266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010324" y="6076950"/>
            <a:ext cx="1914477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10324" y="6076950"/>
            <a:ext cx="191447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Costes compartidos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153196" y="6186026"/>
            <a:ext cx="171445" cy="143796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457788" y="6543675"/>
            <a:ext cx="1981150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57788" y="6543675"/>
            <a:ext cx="198115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Estándares comunes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591135" y="6665041"/>
            <a:ext cx="171445" cy="1382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810374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3333666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Servicios en la nube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314817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44894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9209" y="1485900"/>
            <a:ext cx="20954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IaaS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09" y="1828800"/>
            <a:ext cx="209544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Infraestructura como servicio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52" y="2190749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Capa base que traslada máquinas virtuales, redes y almacenamiento a entorno gestionado por terceros, manteniendo control sobre sistema operativo.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852" y="3133724"/>
            <a:ext cx="1495387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4852" y="3133724"/>
            <a:ext cx="149538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Control de SO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3249561"/>
            <a:ext cx="171445" cy="14932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495487" y="3133724"/>
            <a:ext cx="2000199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95487" y="3133724"/>
            <a:ext cx="200019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Configuración de red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359" y="3249561"/>
            <a:ext cx="171445" cy="14932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04852" y="3600450"/>
            <a:ext cx="1333466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4852" y="3600450"/>
            <a:ext cx="133346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Flexibilidad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3712291"/>
            <a:ext cx="171445" cy="138266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4153460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71545" y="4114800"/>
            <a:ext cx="101914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Netflix, Airbnb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4" y="1238249"/>
            <a:ext cx="5314817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5778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1135" y="1637567"/>
            <a:ext cx="304792" cy="249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62620" y="1485900"/>
            <a:ext cx="181922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PaaS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2620" y="1828800"/>
            <a:ext cx="181922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Plataforma como servicio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788" y="2190749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Abstrae infraestructura para centrarse en construir y desplegar aplicaciones, proporcionando runtimes y herramientas de desarrollo.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7788" y="3133724"/>
            <a:ext cx="1790655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7788" y="3133724"/>
            <a:ext cx="179065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Acelera desarrollo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1135" y="3262005"/>
            <a:ext cx="171445" cy="12443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343691" y="3133724"/>
            <a:ext cx="2324041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3691" y="3133724"/>
            <a:ext cx="232404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Menor esfuerzo operativo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86562" y="3249561"/>
            <a:ext cx="171445" cy="14932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57788" y="3600450"/>
            <a:ext cx="1638259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57788" y="3600450"/>
            <a:ext cx="163825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CI/CD integrado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91135" y="3701230"/>
            <a:ext cx="171445" cy="160388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57788" y="414785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24481" y="4114800"/>
            <a:ext cx="114297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Shopify, Heroku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733" y="4810124"/>
            <a:ext cx="5314817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04852" y="5048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38199" y="5225561"/>
            <a:ext cx="304792" cy="2168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19209" y="5048250"/>
            <a:ext cx="166683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SaaS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19209" y="5391150"/>
            <a:ext cx="166683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Software como servicio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852" y="5762625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Aplicaciones listas para usar accesibles vía navegador, sin necesidad de instalación ni gestión de infraestructura.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4852" y="6705600"/>
            <a:ext cx="1552536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4852" y="6705600"/>
            <a:ext cx="155253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Listo para usar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62582" y="6800850"/>
            <a:ext cx="141728" cy="17145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2552636" y="6705600"/>
            <a:ext cx="2543111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52636" y="6705600"/>
            <a:ext cx="254311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Actualizaciones automáticas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85982" y="6817441"/>
            <a:ext cx="171445" cy="138266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904852" y="7172325"/>
            <a:ext cx="1657308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4852" y="7172325"/>
            <a:ext cx="165730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Multiplataforma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47723" y="7299222"/>
            <a:ext cx="171445" cy="127204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04852" y="7721413"/>
            <a:ext cx="190495" cy="14007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71545" y="7686675"/>
            <a:ext cx="210497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Google Workspace, Office 365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0144" y="4810124"/>
            <a:ext cx="5314817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57788" y="5048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591135" y="5216769"/>
            <a:ext cx="304792" cy="23446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62620" y="5048250"/>
            <a:ext cx="176208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FaaS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2620" y="5391150"/>
            <a:ext cx="176208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Funciones como servicio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57788" y="5762625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Ejecución de código en respuesta a eventos, pagando únicamente por invocaciones y tiempo de ejecución consumido.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57788" y="6705600"/>
            <a:ext cx="1943051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57788" y="6705600"/>
            <a:ext cx="194305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Orientado a eventos 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91135" y="6811911"/>
            <a:ext cx="171445" cy="149327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8496087" y="6705600"/>
            <a:ext cx="1952576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96087" y="6705600"/>
            <a:ext cx="195257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Pago por invocación 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638959" y="6822972"/>
            <a:ext cx="171445" cy="127204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457788" y="7172325"/>
            <a:ext cx="2000199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57788" y="7172325"/>
            <a:ext cx="200019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Escalado automático 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591135" y="7282630"/>
            <a:ext cx="171445" cy="160388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457788" y="7721413"/>
            <a:ext cx="190495" cy="140073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4481" y="7686675"/>
            <a:ext cx="215259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AWS Lambda, Azure Functions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810374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457188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Casos de uso y aplicaciones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3457488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53686"/>
            <a:ext cx="304792" cy="216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9209" y="1619250"/>
            <a:ext cx="150491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Trabajo remoto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52" y="2190749"/>
            <a:ext cx="2981250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Acceso a aplicaciones y datos desde cualquier lugar con conexión a Internet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852" y="3133724"/>
            <a:ext cx="1885902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852" y="3133724"/>
            <a:ext cx="188590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Flexibilidad horaria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3249561"/>
            <a:ext cx="171445" cy="14932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04852" y="3600450"/>
            <a:ext cx="1952576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4852" y="3600450"/>
            <a:ext cx="195257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Reducción de costes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23" y="3709526"/>
            <a:ext cx="171445" cy="143796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4175872"/>
            <a:ext cx="190495" cy="1064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71545" y="4114800"/>
            <a:ext cx="165730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Zoom, Microsoft Teams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2340" y="1238249"/>
            <a:ext cx="3457488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00459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3806" y="1680063"/>
            <a:ext cx="304792" cy="1641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14817" y="1619250"/>
            <a:ext cx="130489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Colaboración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0459" y="2190749"/>
            <a:ext cx="2981250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Trabajo simultáneo en documentos y proyectos sin limitaciones geográficas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0459" y="3133724"/>
            <a:ext cx="2628834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0459" y="3133724"/>
            <a:ext cx="262883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Sincronización en tiempo real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3331" y="3244030"/>
            <a:ext cx="171445" cy="16038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600459" y="3600450"/>
            <a:ext cx="1971625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00459" y="3600450"/>
            <a:ext cx="197162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Control de versiones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43331" y="3712291"/>
            <a:ext cx="171445" cy="138266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00459" y="41478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67153" y="4114800"/>
            <a:ext cx="210497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Google Workspace, Office 365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7473" y="1238249"/>
            <a:ext cx="3457488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0559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38939" y="1644894"/>
            <a:ext cx="304792" cy="23446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19949" y="1619250"/>
            <a:ext cx="101914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Educación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592" y="2190749"/>
            <a:ext cx="2981250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Plataformas de aprendizaje virtual y gestión académica accesibles globalmente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05592" y="3133724"/>
            <a:ext cx="1685882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5592" y="3133724"/>
            <a:ext cx="168588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Acceso universal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48463" y="3249561"/>
            <a:ext cx="171445" cy="149327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305592" y="3600450"/>
            <a:ext cx="2457388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05592" y="3600450"/>
            <a:ext cx="245738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Seguimiento personalizado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448463" y="3712291"/>
            <a:ext cx="171445" cy="138266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05592" y="4157662"/>
            <a:ext cx="190495" cy="14287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572285" y="4114800"/>
            <a:ext cx="171445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Coursera, Moodle Cloud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6733" y="4810124"/>
            <a:ext cx="3457488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04852" y="5048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38199" y="5205046"/>
            <a:ext cx="304792" cy="2579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619209" y="5181599"/>
            <a:ext cx="122869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Salud digital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852" y="5762625"/>
            <a:ext cx="2981250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Almacenamiento seguro de historiales clínicos y telemedicina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4852" y="6705600"/>
            <a:ext cx="2304992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4852" y="6705600"/>
            <a:ext cx="230499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Cumplimiento normativo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47723" y="6806380"/>
            <a:ext cx="171445" cy="160388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904852" y="7172325"/>
            <a:ext cx="1828754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4852" y="7172325"/>
            <a:ext cx="182875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Consultas remotas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47723" y="7293691"/>
            <a:ext cx="171445" cy="138266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04852" y="7715810"/>
            <a:ext cx="190495" cy="15127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71545" y="7686675"/>
            <a:ext cx="15715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Epic Systems, Teladoc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62340" y="4810124"/>
            <a:ext cx="3457488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00459" y="5048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33806" y="5216769"/>
            <a:ext cx="304792" cy="23446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314817" y="5181599"/>
            <a:ext cx="202877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Inteligencia Artificial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00459" y="5762625"/>
            <a:ext cx="2981250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Procesamiento de grandes volúmenes de datos y modelos de aprendizaje automático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00459" y="6705600"/>
            <a:ext cx="2133546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00459" y="6705600"/>
            <a:ext cx="213354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Procesamiento masivo 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743331" y="6824355"/>
            <a:ext cx="171445" cy="124439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4600459" y="7172325"/>
            <a:ext cx="2047823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00459" y="7172325"/>
            <a:ext cx="204782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Predicciones precisas 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743331" y="7296457"/>
            <a:ext cx="171445" cy="132735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600459" y="7715810"/>
            <a:ext cx="190495" cy="15127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867153" y="7686675"/>
            <a:ext cx="235261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Google Cloud AI, AWS SageMaker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67473" y="4810124"/>
            <a:ext cx="3457488" cy="3333749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05592" y="5048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8438939" y="5240215"/>
            <a:ext cx="304792" cy="18756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019949" y="5181599"/>
            <a:ext cx="163825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Análisis de datos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05592" y="5762625"/>
            <a:ext cx="2981250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Visualización y procesamiento de big data para toma de decisiones estratégicas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05592" y="6705600"/>
            <a:ext cx="2000199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05592" y="6705600"/>
            <a:ext cx="200019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Business Intelligence 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8448463" y="6836799"/>
            <a:ext cx="171445" cy="99551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8305592" y="7172325"/>
            <a:ext cx="2428814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05592" y="7172325"/>
            <a:ext cx="242881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Dashboards en tiempo real </a:t>
            </a:r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8448463" y="7292309"/>
            <a:ext cx="171445" cy="141031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8305592" y="7721413"/>
            <a:ext cx="190495" cy="140073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572285" y="7686675"/>
            <a:ext cx="127631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Tableau, Power BI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7029450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5552936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Edge computing y Fog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314817" cy="2847974"/>
          </a:xfrm>
          <a:prstGeom prst="roundRect">
            <a:avLst>
              <a:gd name="adj" fmla="val 802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44894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9209" y="1590675"/>
            <a:ext cx="18573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Edge computing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52" y="2190749"/>
            <a:ext cx="483857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Procesamiento de datos cerca del usuario final para reducir latencia y mejorar respuesta en tiempo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852" y="2867025"/>
            <a:ext cx="1428714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852" y="2867025"/>
            <a:ext cx="142871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Baja latencia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2995305"/>
            <a:ext cx="171445" cy="12443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419289" y="2867025"/>
            <a:ext cx="2143071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19289" y="2867025"/>
            <a:ext cx="214307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Menor ancho de banda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685" y="2982861"/>
            <a:ext cx="171445" cy="14932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04852" y="3333749"/>
            <a:ext cx="1743031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4852" y="3333749"/>
            <a:ext cx="174303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Mayor privacidad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3434530"/>
            <a:ext cx="171445" cy="1603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10144" y="1238249"/>
            <a:ext cx="5314817" cy="2847974"/>
          </a:xfrm>
          <a:prstGeom prst="roundRect">
            <a:avLst>
              <a:gd name="adj" fmla="val 802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5778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135" y="1653686"/>
            <a:ext cx="304792" cy="2168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62620" y="1590675"/>
            <a:ext cx="171445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Fog computing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788" y="2190749"/>
            <a:ext cx="483857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Capa intermedia entre edge y nube que gestiona datos y servicios con mayor capacidad que edge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57788" y="2867025"/>
            <a:ext cx="1838279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7788" y="2867025"/>
            <a:ext cx="183827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Equilibrio de carga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1135" y="2988391"/>
            <a:ext cx="171445" cy="13826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391315" y="2867025"/>
            <a:ext cx="2190695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1315" y="2867025"/>
            <a:ext cx="219069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Mayor almacenamiento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34186" y="2993922"/>
            <a:ext cx="171445" cy="12720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457788" y="3333749"/>
            <a:ext cx="2304992" cy="371475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57788" y="3333749"/>
            <a:ext cx="230499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Procesamiento avanzado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1135" y="3445591"/>
            <a:ext cx="171445" cy="13826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66733" y="4467224"/>
            <a:ext cx="10858228" cy="1552574"/>
          </a:xfrm>
          <a:prstGeom prst="roundRect">
            <a:avLst>
              <a:gd name="adj" fmla="val 1472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885902" y="46577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19249" y="4846759"/>
            <a:ext cx="304792" cy="19343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981150" y="5324474"/>
            <a:ext cx="3714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4FC3F7"/>
                </a:solidFill>
              </a:rPr>
              <a:t>Mist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8714" y="5638799"/>
            <a:ext cx="146681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Sensores y dispositivos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95687" y="46577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29034" y="4826244"/>
            <a:ext cx="304792" cy="23446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619509" y="5324474"/>
            <a:ext cx="32384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4FC3F7"/>
                </a:solidFill>
              </a:rPr>
              <a:t>Fog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8003" y="5638799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Gateway y nodos intermedios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24521" y="46577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57868" y="4826244"/>
            <a:ext cx="304792" cy="23446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181670" y="5324474"/>
            <a:ext cx="4381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4FC3F7"/>
                </a:solidFill>
              </a:rPr>
              <a:t>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9254" y="5638799"/>
            <a:ext cx="115249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Servidores locales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34306" y="46577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867653" y="4835036"/>
            <a:ext cx="304792" cy="21687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781930" y="5324474"/>
            <a:ext cx="47623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4FC3F7"/>
                </a:solidFill>
              </a:rPr>
              <a:t>Nube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0444" y="5638799"/>
            <a:ext cx="162873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Centros de datos remotos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6733" y="6257925"/>
            <a:ext cx="10858228" cy="2105024"/>
          </a:xfrm>
          <a:prstGeom prst="roundRect">
            <a:avLst>
              <a:gd name="adj" fmla="val 1085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04852" y="64960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38199" y="6652846"/>
            <a:ext cx="304792" cy="2579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619209" y="6610349"/>
            <a:ext cx="248596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Casos de uso actuales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4852" y="7210424"/>
            <a:ext cx="2095447" cy="409574"/>
          </a:xfrm>
          <a:prstGeom prst="roundRect">
            <a:avLst>
              <a:gd name="adj" fmla="val 37209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4852" y="7210424"/>
            <a:ext cx="2095447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Vehículos autónomos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47723" y="7341813"/>
            <a:ext cx="190495" cy="13727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3095547" y="7210424"/>
            <a:ext cx="2095447" cy="409574"/>
          </a:xfrm>
          <a:prstGeom prst="roundRect">
            <a:avLst>
              <a:gd name="adj" fmla="val 37209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95547" y="7210424"/>
            <a:ext cx="2095447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Ciudades inteligentes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238419" y="7332008"/>
            <a:ext cx="190495" cy="15688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5276718" y="7210424"/>
            <a:ext cx="1438239" cy="409574"/>
          </a:xfrm>
          <a:prstGeom prst="roundRect">
            <a:avLst>
              <a:gd name="adj" fmla="val 37209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276718" y="7210424"/>
            <a:ext cx="1438239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Industria 4.0 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429114" y="7329207"/>
            <a:ext cx="190495" cy="162485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6819729" y="7210424"/>
            <a:ext cx="2009724" cy="409574"/>
          </a:xfrm>
          <a:prstGeom prst="roundRect">
            <a:avLst>
              <a:gd name="adj" fmla="val 37209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19729" y="7210424"/>
            <a:ext cx="2009724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Streaming de juegos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962600" y="7357222"/>
            <a:ext cx="190495" cy="106455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8915177" y="7210424"/>
            <a:ext cx="2181170" cy="409574"/>
          </a:xfrm>
          <a:prstGeom prst="roundRect">
            <a:avLst>
              <a:gd name="adj" fmla="val 37209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15177" y="7210424"/>
            <a:ext cx="2181170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Monitorización médica 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058048" y="7329207"/>
            <a:ext cx="190495" cy="162485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904852" y="7715250"/>
            <a:ext cx="1762080" cy="409574"/>
          </a:xfrm>
          <a:prstGeom prst="roundRect">
            <a:avLst>
              <a:gd name="adj" fmla="val 37209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04852" y="7715250"/>
            <a:ext cx="1762080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Retail inteligente 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047723" y="7854763"/>
            <a:ext cx="190495" cy="1400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991599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5067173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Elección del modelo adecuado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314817" cy="2133599"/>
          </a:xfrm>
          <a:prstGeom prst="roundRect">
            <a:avLst>
              <a:gd name="adj" fmla="val 1071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44894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9209" y="1590675"/>
            <a:ext cx="19716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Factores técnicos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2223611"/>
            <a:ext cx="228594" cy="162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8694" y="2190749"/>
            <a:ext cx="2085922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Requisitos de rendimiento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568416"/>
            <a:ext cx="228594" cy="1971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8694" y="2543175"/>
            <a:ext cx="312412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Compatibilidad con sistemas existentes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2901315"/>
            <a:ext cx="228594" cy="2171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8694" y="2895600"/>
            <a:ext cx="273360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Necesidades de API y conectividad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4" y="1238249"/>
            <a:ext cx="5314817" cy="2133599"/>
          </a:xfrm>
          <a:prstGeom prst="roundRect">
            <a:avLst>
              <a:gd name="adj" fmla="val 1071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5778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135" y="1625844"/>
            <a:ext cx="304792" cy="2725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62620" y="1590675"/>
            <a:ext cx="239071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Factores económicos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57788" y="2212181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81630" y="2190749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Presupuesto inicial disponible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57788" y="260413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81630" y="2543175"/>
            <a:ext cx="205734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Costes a largo plazo (TCO)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57788" y="2921317"/>
            <a:ext cx="228594" cy="1771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81630" y="2895600"/>
            <a:ext cx="254311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Modelo de facturación preferido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3609975"/>
            <a:ext cx="5314817" cy="2133599"/>
          </a:xfrm>
          <a:prstGeom prst="roundRect">
            <a:avLst>
              <a:gd name="adj" fmla="val 1071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4852" y="38480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8199" y="3990242"/>
            <a:ext cx="304792" cy="2872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19209" y="3962399"/>
            <a:ext cx="250501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Factores de seguridad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04852" y="4583429"/>
            <a:ext cx="228594" cy="2057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28694" y="4562475"/>
            <a:ext cx="197162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Sensibilidad de los datos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04852" y="4920615"/>
            <a:ext cx="228594" cy="21717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28694" y="4914900"/>
            <a:ext cx="200019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Cumplimiento normativo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04852" y="5282565"/>
            <a:ext cx="228594" cy="21717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28694" y="5267324"/>
            <a:ext cx="243833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Políticas internas de seguridad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144" y="3609975"/>
            <a:ext cx="5314817" cy="2133599"/>
          </a:xfrm>
          <a:prstGeom prst="roundRect">
            <a:avLst>
              <a:gd name="adj" fmla="val 1071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57788" y="38480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591135" y="3990242"/>
            <a:ext cx="304792" cy="28721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62620" y="3962399"/>
            <a:ext cx="30574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Escalabilidad y flexibilidad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457788" y="4617720"/>
            <a:ext cx="228594" cy="13715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81630" y="4562475"/>
            <a:ext cx="2314517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Picos de demanda esperados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57788" y="4966334"/>
            <a:ext cx="228594" cy="12572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81630" y="4914900"/>
            <a:ext cx="244786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Crecimiento futuro proyectado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57788" y="5319712"/>
            <a:ext cx="228594" cy="1428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81630" y="5267324"/>
            <a:ext cx="2095447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Necesidad de portabilidad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33" y="5981699"/>
            <a:ext cx="10858228" cy="4343400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4852" y="6219825"/>
            <a:ext cx="10381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Tabla de decisión rápida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04852" y="6274044"/>
            <a:ext cx="304792" cy="2344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657975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651493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Impacto en la rentabilidad empresarial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314817" cy="3257550"/>
          </a:xfrm>
          <a:prstGeom prst="roundRect">
            <a:avLst>
              <a:gd name="adj" fmla="val 701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39032"/>
            <a:ext cx="304792" cy="246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9209" y="1590675"/>
            <a:ext cx="230499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Reducción de costes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52" y="2190749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Transformación de inversiones en capital (CAPEX) a gastos operativos (OPEX), eliminando costes de mantenimiento y actualización de infraestructura.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852" y="3133724"/>
            <a:ext cx="2343091" cy="761999"/>
          </a:xfrm>
          <a:prstGeom prst="roundRect">
            <a:avLst>
              <a:gd name="adj" fmla="val 2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95407" y="3248024"/>
            <a:ext cx="75245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30-40%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22" y="3590924"/>
            <a:ext cx="199067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Reducción en costes operativos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15" y="3133724"/>
            <a:ext cx="2343091" cy="761999"/>
          </a:xfrm>
          <a:prstGeom prst="roundRect">
            <a:avLst>
              <a:gd name="adj" fmla="val 2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291" y="3248024"/>
            <a:ext cx="4381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2280" y="3590924"/>
            <a:ext cx="160968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Menor gasto en hardware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4077260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71545" y="4038599"/>
            <a:ext cx="301934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Capital One redujo costes en 30% con AWS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4" y="1238249"/>
            <a:ext cx="5314817" cy="3257550"/>
          </a:xfrm>
          <a:prstGeom prst="roundRect">
            <a:avLst>
              <a:gd name="adj" fmla="val 701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5778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1135" y="1680063"/>
            <a:ext cx="304792" cy="1641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62620" y="1590675"/>
            <a:ext cx="289552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Optimización de recursos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788" y="2190749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Reasignación de personal técnico de mantenimiento a roles de innovación y desarrollo, mejorando la eficiencia y satisfacción del equipo.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57788" y="3133724"/>
            <a:ext cx="2343091" cy="761999"/>
          </a:xfrm>
          <a:prstGeom prst="roundRect">
            <a:avLst>
              <a:gd name="adj" fmla="val 2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0264" y="3248024"/>
            <a:ext cx="4381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006" y="3590924"/>
            <a:ext cx="179065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Reducción en personal de TI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3751" y="3133724"/>
            <a:ext cx="2343091" cy="761999"/>
          </a:xfrm>
          <a:prstGeom prst="roundRect">
            <a:avLst>
              <a:gd name="adj" fmla="val 2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6227" y="3248024"/>
            <a:ext cx="4381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593" y="3590924"/>
            <a:ext cx="16954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Aumento en productividad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7788" y="40716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24481" y="4038599"/>
            <a:ext cx="307649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Spotify optimizó equipos con Google Cloud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33" y="4733925"/>
            <a:ext cx="5314817" cy="3257550"/>
          </a:xfrm>
          <a:prstGeom prst="roundRect">
            <a:avLst>
              <a:gd name="adj" fmla="val 701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4852" y="49720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8199" y="5130311"/>
            <a:ext cx="304792" cy="2549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19209" y="5086350"/>
            <a:ext cx="262883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Innovación y velocidad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852" y="5686425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Reducción drástica del tiempo de lanzamiento de nuevos productos y servicios, permitiendo experimentación rápida y escalado de iniciativas exitosas.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4852" y="6629400"/>
            <a:ext cx="2343091" cy="761999"/>
          </a:xfrm>
          <a:prstGeom prst="roundRect">
            <a:avLst>
              <a:gd name="adj" fmla="val 2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57328" y="6743700"/>
            <a:ext cx="4381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565" y="7086600"/>
            <a:ext cx="140966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Menor time-to-market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90815" y="6629400"/>
            <a:ext cx="2343091" cy="761999"/>
          </a:xfrm>
          <a:prstGeom prst="roundRect">
            <a:avLst>
              <a:gd name="adj" fmla="val 2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48063" y="6743700"/>
            <a:ext cx="23811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3x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9904" y="7086600"/>
            <a:ext cx="151443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Más ciclos de desarrollo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4852" y="7569013"/>
            <a:ext cx="190495" cy="14007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71545" y="7534274"/>
            <a:ext cx="274313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Netflix lanza contenidos 5x más rápido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0144" y="4733925"/>
            <a:ext cx="5314817" cy="3257550"/>
          </a:xfrm>
          <a:prstGeom prst="roundRect">
            <a:avLst>
              <a:gd name="adj" fmla="val 701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457788" y="49720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1135" y="5175738"/>
            <a:ext cx="304792" cy="16412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62620" y="5086350"/>
            <a:ext cx="239071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ROI y competitividad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7788" y="5686425"/>
            <a:ext cx="48385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Mejora de la competitividad mediante acceso a tecnologías avanzadas y capacidad de respuesta ágil a cambios del mercado.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57788" y="6629400"/>
            <a:ext cx="2343091" cy="761999"/>
          </a:xfrm>
          <a:prstGeom prst="roundRect">
            <a:avLst>
              <a:gd name="adj" fmla="val 2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43591" y="6743700"/>
            <a:ext cx="56196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200%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67353" y="7086600"/>
            <a:ext cx="151443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ROI promedio en 3 años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43751" y="6629400"/>
            <a:ext cx="2343091" cy="761999"/>
          </a:xfrm>
          <a:prstGeom prst="roundRect">
            <a:avLst>
              <a:gd name="adj" fmla="val 2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896227" y="6743700"/>
            <a:ext cx="4381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86662" y="7086600"/>
            <a:ext cx="126679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Ventaja competitiva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57788" y="7560608"/>
            <a:ext cx="190495" cy="15688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4481" y="7534274"/>
            <a:ext cx="260025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GE mejoró competitividad con Azure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877299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2219269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314817" cy="1933574"/>
          </a:xfrm>
          <a:prstGeom prst="roundRect">
            <a:avLst>
              <a:gd name="adj" fmla="val 1182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18517"/>
            <a:ext cx="304792" cy="2872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33" y="1476375"/>
            <a:ext cx="407659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Transformador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33" y="1866899"/>
            <a:ext cx="4076598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La nube ha redefinido cómo las empresas acceden, procesan y almacenan información, transformando </a:t>
            </a:r>
            <a:r>
              <a:rPr sz="1196" b="1">
                <a:solidFill>
                  <a:srgbClr val="FFFFFF"/>
                </a:solidFill>
              </a:rPr>
              <a:t>CAPEX a OPEX</a:t>
            </a:r>
            <a:r>
              <a:rPr sz="1196" b="0">
                <a:solidFill>
                  <a:srgbClr val="FFFFFF"/>
                </a:solidFill>
              </a:rPr>
              <a:t> y democratizando el acceso a tecnología avanzada.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4" y="1238249"/>
            <a:ext cx="5314817" cy="1933574"/>
          </a:xfrm>
          <a:prstGeom prst="roundRect">
            <a:avLst>
              <a:gd name="adj" fmla="val 1182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5778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1639032"/>
            <a:ext cx="304792" cy="246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19769" y="1476375"/>
            <a:ext cx="407659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Elección estratégica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769" y="1866899"/>
            <a:ext cx="4076598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No existe un modelo único ideal. La elección depende del </a:t>
            </a:r>
            <a:r>
              <a:rPr sz="1196" b="1">
                <a:solidFill>
                  <a:srgbClr val="FFFFFF"/>
                </a:solidFill>
              </a:rPr>
              <a:t>equilibrio</a:t>
            </a:r>
            <a:r>
              <a:rPr sz="1196" b="0">
                <a:solidFill>
                  <a:srgbClr val="FFFFFF"/>
                </a:solidFill>
              </a:rPr>
              <a:t> entre seguridad, coste, escalabilidad y requisitos específicos de cada organización.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409950"/>
            <a:ext cx="5314817" cy="1933574"/>
          </a:xfrm>
          <a:prstGeom prst="roundRect">
            <a:avLst>
              <a:gd name="adj" fmla="val 1182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4852" y="36480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199" y="3790217"/>
            <a:ext cx="304792" cy="2872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33" y="3648074"/>
            <a:ext cx="407659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Innovación vs. seguridad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33" y="4038599"/>
            <a:ext cx="4076598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Las empresas deben encontrar el balance entre </a:t>
            </a:r>
            <a:r>
              <a:rPr sz="1196" b="1">
                <a:solidFill>
                  <a:srgbClr val="FFFFFF"/>
                </a:solidFill>
              </a:rPr>
              <a:t>agilidad e innovación</a:t>
            </a:r>
            <a:r>
              <a:rPr sz="1196" b="0">
                <a:solidFill>
                  <a:srgbClr val="FFFFFF"/>
                </a:solidFill>
              </a:rPr>
              <a:t> y las políticas de seguridad y cumplimiento normativo que protegen sus activos digitales.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4" y="3409950"/>
            <a:ext cx="5314817" cy="1933574"/>
          </a:xfrm>
          <a:prstGeom prst="roundRect">
            <a:avLst>
              <a:gd name="adj" fmla="val 1182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57788" y="36480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35" y="3851763"/>
            <a:ext cx="304792" cy="1641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19769" y="3648074"/>
            <a:ext cx="407659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Impacto medible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769" y="4038599"/>
            <a:ext cx="4076598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La adopción de la nube genera </a:t>
            </a:r>
            <a:r>
              <a:rPr sz="1196" b="1">
                <a:solidFill>
                  <a:srgbClr val="FFFFFF"/>
                </a:solidFill>
              </a:rPr>
              <a:t>ROI significativo</a:t>
            </a:r>
            <a:r>
              <a:rPr sz="1196" b="0">
                <a:solidFill>
                  <a:srgbClr val="FFFFFF"/>
                </a:solidFill>
              </a:rPr>
              <a:t> mediante reducción de costes, optimización de recursos y aceleración del time-to-market.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676900"/>
            <a:ext cx="10858228" cy="2943225"/>
          </a:xfrm>
          <a:prstGeom prst="roundRect">
            <a:avLst>
              <a:gd name="adj" fmla="val 776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4852" y="5915025"/>
            <a:ext cx="10381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Tendencias futuras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5986828"/>
            <a:ext cx="304792" cy="199292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04852" y="6448425"/>
            <a:ext cx="3333666" cy="1933574"/>
          </a:xfrm>
          <a:prstGeom prst="roundRect">
            <a:avLst>
              <a:gd name="adj" fmla="val 9852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81190" y="6695479"/>
            <a:ext cx="380990" cy="26789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85922" y="7162800"/>
            <a:ext cx="9620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FFFF"/>
                </a:solidFill>
              </a:rPr>
              <a:t>Multicloud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347" y="7524749"/>
            <a:ext cx="295267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Estrategias híbridas combinando múltiples proveedores para optimizar costes y evitar vendor lock-in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9014" y="6448425"/>
            <a:ext cx="3333666" cy="1933574"/>
          </a:xfrm>
          <a:prstGeom prst="roundRect">
            <a:avLst>
              <a:gd name="adj" fmla="val 9852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5352" y="6683573"/>
            <a:ext cx="380990" cy="29170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62440" y="7162800"/>
            <a:ext cx="14572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FFFF"/>
                </a:solidFill>
              </a:rPr>
              <a:t>Edge computing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9509" y="7524749"/>
            <a:ext cx="295267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Procesamiento distribuido para reducir latencia y habilitar aplicaciones en tiempo real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3176" y="6448425"/>
            <a:ext cx="3333666" cy="1933574"/>
          </a:xfrm>
          <a:prstGeom prst="roundRect">
            <a:avLst>
              <a:gd name="adj" fmla="val 9852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29514" y="6683573"/>
            <a:ext cx="380990" cy="29170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48523" y="7162800"/>
            <a:ext cx="11524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FFFF"/>
                </a:solidFill>
              </a:rPr>
              <a:t>IA en la nube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3671" y="7524749"/>
            <a:ext cx="295267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Servicios de inteligencia artificial accesibles para empresas de todos los tamaños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33" y="9096375"/>
            <a:ext cx="10858228" cy="1114425"/>
          </a:xfrm>
          <a:prstGeom prst="roundRect">
            <a:avLst>
              <a:gd name="adj" fmla="val 20512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4852" y="9334499"/>
            <a:ext cx="10381990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La computación en la nube continúa redefiniendo el panorama tecnológico empresarial, transformando no solo infraestructuras sino también modelos de negocio y estrategias competitivas.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362700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376" y="69535"/>
            <a:ext cx="3400339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IaaS en profundidad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5297" y="487679"/>
            <a:ext cx="5286242" cy="3467100"/>
          </a:xfrm>
          <a:prstGeom prst="roundRect">
            <a:avLst>
              <a:gd name="adj" fmla="val 659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3416" y="725805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Características principales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3416" y="780024"/>
            <a:ext cx="304792" cy="23446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416" y="1290637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7258" y="1259204"/>
            <a:ext cx="448616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Control total</a:t>
            </a:r>
            <a:r>
              <a:rPr sz="1196" b="0">
                <a:solidFill>
                  <a:srgbClr val="FFFFFF"/>
                </a:solidFill>
              </a:rPr>
              <a:t> sobre sistemas operativos, redes y almacenamiento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416" y="1941195"/>
            <a:ext cx="228594" cy="2171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7258" y="1935480"/>
            <a:ext cx="42289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Escalabilidad</a:t>
            </a:r>
            <a:r>
              <a:rPr sz="1196" b="0">
                <a:solidFill>
                  <a:srgbClr val="FFFFFF"/>
                </a:solidFill>
              </a:rPr>
              <a:t> dinámica de recursos computacionales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416" y="2376487"/>
            <a:ext cx="228594" cy="1657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7258" y="2345055"/>
            <a:ext cx="448616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Modelo de </a:t>
            </a:r>
            <a:r>
              <a:rPr sz="1196" b="1">
                <a:solidFill>
                  <a:srgbClr val="FFFFFF"/>
                </a:solidFill>
              </a:rPr>
              <a:t>pago por uso</a:t>
            </a:r>
            <a:r>
              <a:rPr sz="1196" b="0">
                <a:solidFill>
                  <a:srgbClr val="FFFFFF"/>
                </a:solidFill>
              </a:rPr>
              <a:t> con facturación por hora/minuto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416" y="303847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57258" y="3021330"/>
            <a:ext cx="402897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Configuración </a:t>
            </a:r>
            <a:r>
              <a:rPr sz="1196" b="1">
                <a:solidFill>
                  <a:srgbClr val="FFFFFF"/>
                </a:solidFill>
              </a:rPr>
              <a:t>personalizada</a:t>
            </a:r>
            <a:r>
              <a:rPr sz="1196" b="0">
                <a:solidFill>
                  <a:srgbClr val="FFFFFF"/>
                </a:solidFill>
              </a:rPr>
              <a:t> de entornos virtuales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297" y="4183380"/>
            <a:ext cx="5286242" cy="2524125"/>
          </a:xfrm>
          <a:prstGeom prst="roundRect">
            <a:avLst>
              <a:gd name="adj" fmla="val 905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416" y="4431029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Casos de uso ideales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3416" y="4485249"/>
            <a:ext cx="304792" cy="23446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3416" y="5007292"/>
            <a:ext cx="228594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7258" y="4964430"/>
            <a:ext cx="38480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Migraciones lift-and-shift</a:t>
            </a:r>
            <a:r>
              <a:rPr sz="1196" b="0">
                <a:solidFill>
                  <a:srgbClr val="FFFFFF"/>
                </a:solidFill>
              </a:rPr>
              <a:t> de aplicaciones legacy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3416" y="5395912"/>
            <a:ext cx="228594" cy="1657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57258" y="5364480"/>
            <a:ext cx="36194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Entornos de </a:t>
            </a:r>
            <a:r>
              <a:rPr sz="1196" b="1">
                <a:solidFill>
                  <a:srgbClr val="FFFFFF"/>
                </a:solidFill>
              </a:rPr>
              <a:t>desarrollo y pruebas</a:t>
            </a:r>
            <a:r>
              <a:rPr sz="1196" b="0">
                <a:solidFill>
                  <a:srgbClr val="FFFFFF"/>
                </a:solidFill>
              </a:rPr>
              <a:t> temporales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3416" y="5829300"/>
            <a:ext cx="228594" cy="1371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7258" y="5783580"/>
            <a:ext cx="36098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Aplicaciones con </a:t>
            </a:r>
            <a:r>
              <a:rPr sz="1196" b="1">
                <a:solidFill>
                  <a:srgbClr val="FFFFFF"/>
                </a:solidFill>
              </a:rPr>
              <a:t>picos de demanda</a:t>
            </a:r>
            <a:r>
              <a:rPr sz="1196" b="0">
                <a:solidFill>
                  <a:srgbClr val="FFFFFF"/>
                </a:solidFill>
              </a:rPr>
              <a:t> variables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7283" y="487679"/>
            <a:ext cx="5286242" cy="3495675"/>
          </a:xfrm>
          <a:prstGeom prst="roundRect">
            <a:avLst>
              <a:gd name="adj" fmla="val 653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5402" y="725805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 dirty="0">
                <a:solidFill>
                  <a:srgbClr val="4FC3F7"/>
                </a:solidFill>
              </a:rPr>
              <a:t> </a:t>
            </a:r>
            <a:r>
              <a:rPr sz="1104" dirty="0"/>
              <a:t>  </a:t>
            </a:r>
            <a:r>
              <a:rPr sz="1674" b="1" dirty="0">
                <a:solidFill>
                  <a:srgbClr val="4FC3F7"/>
                </a:solidFill>
              </a:rPr>
              <a:t> </a:t>
            </a:r>
            <a:r>
              <a:rPr sz="1674" b="1" dirty="0" err="1">
                <a:solidFill>
                  <a:srgbClr val="4FC3F7"/>
                </a:solidFill>
              </a:rPr>
              <a:t>Proveedores</a:t>
            </a:r>
            <a:r>
              <a:rPr sz="1674" b="1" dirty="0">
                <a:solidFill>
                  <a:srgbClr val="4FC3F7"/>
                </a:solidFill>
              </a:rPr>
              <a:t> </a:t>
            </a:r>
            <a:r>
              <a:rPr sz="1674" b="1" dirty="0" err="1">
                <a:solidFill>
                  <a:srgbClr val="4FC3F7"/>
                </a:solidFill>
              </a:rPr>
              <a:t>principales</a:t>
            </a:r>
            <a:r>
              <a:rPr sz="1674" b="1" dirty="0">
                <a:solidFill>
                  <a:srgbClr val="4FC3F7"/>
                </a:solidFill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05402" y="788816"/>
            <a:ext cx="304792" cy="21687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405402" y="1259204"/>
            <a:ext cx="1447763" cy="1038224"/>
          </a:xfrm>
          <a:prstGeom prst="roundRect">
            <a:avLst>
              <a:gd name="adj" fmla="val 1834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8273" y="1402080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8273" y="1716405"/>
            <a:ext cx="116202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1284" y="1259204"/>
            <a:ext cx="1447763" cy="1038224"/>
          </a:xfrm>
          <a:prstGeom prst="roundRect">
            <a:avLst>
              <a:gd name="adj" fmla="val 1834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4156" y="1402080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Google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4156" y="1716405"/>
            <a:ext cx="1162020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Compute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77167" y="1259204"/>
            <a:ext cx="1447763" cy="1038224"/>
          </a:xfrm>
          <a:prstGeom prst="roundRect">
            <a:avLst>
              <a:gd name="adj" fmla="val 1834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10514" y="1402080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0514" y="1716405"/>
            <a:ext cx="1162020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Virtual Machines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5402" y="2535555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625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Ventajas competitivas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05402" y="2624943"/>
            <a:ext cx="304792" cy="164123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05402" y="3086099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29243" y="3068954"/>
            <a:ext cx="387657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Flexibilidad</a:t>
            </a:r>
            <a:r>
              <a:rPr sz="1196" b="0">
                <a:solidFill>
                  <a:srgbClr val="FFFFFF"/>
                </a:solidFill>
              </a:rPr>
              <a:t> para configurar entornos específicos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05402" y="3495675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29243" y="3478530"/>
            <a:ext cx="400992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Aprovisionamiento rápido</a:t>
            </a:r>
            <a:r>
              <a:rPr sz="1196" b="0">
                <a:solidFill>
                  <a:srgbClr val="FFFFFF"/>
                </a:solidFill>
              </a:rPr>
              <a:t> de recursos en minutos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7283" y="4221480"/>
            <a:ext cx="5286242" cy="2486025"/>
          </a:xfrm>
          <a:prstGeom prst="roundRect">
            <a:avLst>
              <a:gd name="adj" fmla="val 919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5402" y="4459604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Consideraciones clave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405402" y="4507962"/>
            <a:ext cx="304792" cy="24618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405402" y="4993005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5402" y="4993005"/>
            <a:ext cx="2333566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Gestión de seguridad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548273" y="5236732"/>
            <a:ext cx="190495" cy="179294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881840" y="4993005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81840" y="4993005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Actualizaciones manuales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024711" y="5250740"/>
            <a:ext cx="190495" cy="15127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405402" y="5802629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5402" y="5802629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Requiere personal DevOps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48273" y="6060365"/>
            <a:ext cx="190495" cy="151279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881840" y="5802629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91364" y="5870226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Monitorización activa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024711" y="6053045"/>
            <a:ext cx="761980" cy="1659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143625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110044"/>
            <a:ext cx="349558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</a:rPr>
              <a:t>PaaS </a:t>
            </a:r>
            <a:r>
              <a:rPr sz="2392" b="1" dirty="0" err="1">
                <a:solidFill>
                  <a:srgbClr val="FFFFFF"/>
                </a:solidFill>
              </a:rPr>
              <a:t>en</a:t>
            </a:r>
            <a:r>
              <a:rPr sz="2392" b="1" dirty="0">
                <a:solidFill>
                  <a:srgbClr val="FFFFFF"/>
                </a:solidFill>
              </a:rPr>
              <a:t> </a:t>
            </a:r>
            <a:r>
              <a:rPr sz="2392" b="1" dirty="0" err="1">
                <a:solidFill>
                  <a:srgbClr val="FFFFFF"/>
                </a:solidFill>
              </a:rPr>
              <a:t>profundidad</a:t>
            </a:r>
            <a:endParaRPr sz="2392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4014" y="785336"/>
            <a:ext cx="5286242" cy="3219449"/>
          </a:xfrm>
          <a:prstGeom prst="roundRect">
            <a:avLst>
              <a:gd name="adj" fmla="val 71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133" y="1023462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Características principales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133" y="1070354"/>
            <a:ext cx="304792" cy="24911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133" y="1572578"/>
            <a:ext cx="228594" cy="197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975" y="1556861"/>
            <a:ext cx="444806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Abstracción de infraestructura</a:t>
            </a:r>
            <a:r>
              <a:rPr sz="1196" b="0">
                <a:solidFill>
                  <a:srgbClr val="FFFFFF"/>
                </a:solidFill>
              </a:rPr>
              <a:t> para centrarse en código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133" y="1970723"/>
            <a:ext cx="228594" cy="2200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975" y="1966436"/>
            <a:ext cx="448616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Herramientas de </a:t>
            </a:r>
            <a:r>
              <a:rPr sz="1196" b="1">
                <a:solidFill>
                  <a:srgbClr val="FFFFFF"/>
                </a:solidFill>
              </a:rPr>
              <a:t>desarrollo integradas</a:t>
            </a:r>
            <a:r>
              <a:rPr sz="1196" b="0">
                <a:solidFill>
                  <a:srgbClr val="FFFFFF"/>
                </a:solidFill>
              </a:rPr>
              <a:t> y runtimes preconfigurados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133" y="2648427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975" y="2642712"/>
            <a:ext cx="42956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Escalado automático</a:t>
            </a:r>
            <a:r>
              <a:rPr sz="1196" b="0">
                <a:solidFill>
                  <a:srgbClr val="FFFFFF"/>
                </a:solidFill>
              </a:rPr>
              <a:t> según demanda de la aplicación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133" y="3058002"/>
            <a:ext cx="228594" cy="2171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975" y="3052286"/>
            <a:ext cx="349558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CI/CD integrado</a:t>
            </a:r>
            <a:r>
              <a:rPr sz="1196" b="0">
                <a:solidFill>
                  <a:srgbClr val="FFFFFF"/>
                </a:solidFill>
              </a:rPr>
              <a:t> para despliegues continuos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014" y="4242911"/>
            <a:ext cx="5286242" cy="2543175"/>
          </a:xfrm>
          <a:prstGeom prst="roundRect">
            <a:avLst>
              <a:gd name="adj" fmla="val 89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2133" y="4481037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Casos de uso ideales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133" y="4524998"/>
            <a:ext cx="304792" cy="254976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133" y="5047298"/>
            <a:ext cx="228594" cy="1628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5975" y="5014436"/>
            <a:ext cx="38480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Desarrollo rápido</a:t>
            </a:r>
            <a:r>
              <a:rPr sz="1196" b="0">
                <a:solidFill>
                  <a:srgbClr val="FFFFFF"/>
                </a:solidFill>
              </a:rPr>
              <a:t> de aplicaciones web y móviles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2133" y="5455444"/>
            <a:ext cx="228594" cy="1657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5975" y="5424012"/>
            <a:ext cx="33717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Creación de </a:t>
            </a:r>
            <a:r>
              <a:rPr sz="1196" b="1">
                <a:solidFill>
                  <a:srgbClr val="FFFFFF"/>
                </a:solidFill>
              </a:rPr>
              <a:t>MVPs</a:t>
            </a:r>
            <a:r>
              <a:rPr sz="1196" b="0">
                <a:solidFill>
                  <a:srgbClr val="FFFFFF"/>
                </a:solidFill>
              </a:rPr>
              <a:t> y prototipos funcionales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2133" y="5859304"/>
            <a:ext cx="228594" cy="1771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975" y="5833587"/>
            <a:ext cx="408612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Aplicaciones con </a:t>
            </a:r>
            <a:r>
              <a:rPr sz="1196" b="1">
                <a:solidFill>
                  <a:srgbClr val="FFFFFF"/>
                </a:solidFill>
              </a:rPr>
              <a:t>análisis de datos</a:t>
            </a:r>
            <a:r>
              <a:rPr sz="1196" b="0">
                <a:solidFill>
                  <a:srgbClr val="FFFFFF"/>
                </a:solidFill>
              </a:rPr>
              <a:t> y procesamiento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0" y="785336"/>
            <a:ext cx="5286242" cy="3276599"/>
          </a:xfrm>
          <a:prstGeom prst="roundRect">
            <a:avLst>
              <a:gd name="adj" fmla="val 697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4119" y="1023462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Proveedores principales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34119" y="1086473"/>
            <a:ext cx="304792" cy="21687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334119" y="1556861"/>
            <a:ext cx="1447763" cy="819149"/>
          </a:xfrm>
          <a:prstGeom prst="roundRect">
            <a:avLst>
              <a:gd name="adj" fmla="val 23255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6990" y="1699737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Heroku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6990" y="2014062"/>
            <a:ext cx="116202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0001" y="1556861"/>
            <a:ext cx="1447763" cy="819149"/>
          </a:xfrm>
          <a:prstGeom prst="roundRect">
            <a:avLst>
              <a:gd name="adj" fmla="val 23255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62873" y="1699737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Google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2873" y="2014062"/>
            <a:ext cx="116202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App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05884" y="1556861"/>
            <a:ext cx="1447763" cy="819149"/>
          </a:xfrm>
          <a:prstGeom prst="roundRect">
            <a:avLst>
              <a:gd name="adj" fmla="val 23255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39231" y="1699737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9231" y="2014062"/>
            <a:ext cx="116202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App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4119" y="2614137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625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Ventajas competitivas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34119" y="2703525"/>
            <a:ext cx="304792" cy="164123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34119" y="3173254"/>
            <a:ext cx="228594" cy="1771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57960" y="3147537"/>
            <a:ext cx="41337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Productividad</a:t>
            </a:r>
            <a:r>
              <a:rPr sz="1196" b="0">
                <a:solidFill>
                  <a:srgbClr val="FFFFFF"/>
                </a:solidFill>
              </a:rPr>
              <a:t> acelerada para equipos de desarrollo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34119" y="3582829"/>
            <a:ext cx="228594" cy="1771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57960" y="3557111"/>
            <a:ext cx="347653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Mantenimiento reducido</a:t>
            </a:r>
            <a:r>
              <a:rPr sz="1196" b="0">
                <a:solidFill>
                  <a:srgbClr val="FFFFFF"/>
                </a:solidFill>
              </a:rPr>
              <a:t> de infraestructura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6000" y="4300061"/>
            <a:ext cx="5286242" cy="2486025"/>
          </a:xfrm>
          <a:prstGeom prst="roundRect">
            <a:avLst>
              <a:gd name="adj" fmla="val 919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34119" y="4538187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Consideraciones clave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334119" y="4586544"/>
            <a:ext cx="304792" cy="24618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334119" y="5071586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34119" y="5071586"/>
            <a:ext cx="2333566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Riesgo de vendor lock-in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76990" y="5319517"/>
            <a:ext cx="190495" cy="170889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810557" y="5071586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10557" y="5071586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Limitaciones de personalización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953428" y="5323719"/>
            <a:ext cx="190495" cy="162485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334119" y="5881212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34119" y="5881212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Restricciones de lenguajes/frameworks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476990" y="6161359"/>
            <a:ext cx="190495" cy="106455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810557" y="5881212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10557" y="5881212"/>
            <a:ext cx="2333566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Costes impredecibles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953428" y="6144550"/>
            <a:ext cx="190495" cy="1400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349558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SaaS en profundidad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4014" y="43962"/>
            <a:ext cx="5286242" cy="4105274"/>
          </a:xfrm>
          <a:prstGeom prst="roundRect">
            <a:avLst>
              <a:gd name="adj" fmla="val 556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133" y="282088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Características principales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133" y="345099"/>
            <a:ext cx="304792" cy="21687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164" y="815487"/>
            <a:ext cx="188531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975" y="815487"/>
            <a:ext cx="34384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Aplicaciones </a:t>
            </a:r>
            <a:r>
              <a:rPr sz="1196" b="1">
                <a:solidFill>
                  <a:srgbClr val="FFFFFF"/>
                </a:solidFill>
              </a:rPr>
              <a:t>listas para usar</a:t>
            </a:r>
            <a:r>
              <a:rPr sz="1196" b="0">
                <a:solidFill>
                  <a:srgbClr val="FFFFFF"/>
                </a:solidFill>
              </a:rPr>
              <a:t> sin instalación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133" y="1242208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975" y="1225062"/>
            <a:ext cx="432424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Acceso vía </a:t>
            </a:r>
            <a:r>
              <a:rPr sz="1196" b="1">
                <a:solidFill>
                  <a:srgbClr val="FFFFFF"/>
                </a:solidFill>
              </a:rPr>
              <a:t>navegador web</a:t>
            </a:r>
            <a:r>
              <a:rPr sz="1196" b="0">
                <a:solidFill>
                  <a:srgbClr val="FFFFFF"/>
                </a:solidFill>
              </a:rPr>
              <a:t> desde cualquier dispositivo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133" y="1660355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975" y="1634638"/>
            <a:ext cx="448616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Actualizaciones automáticas</a:t>
            </a:r>
            <a:r>
              <a:rPr sz="1196" b="0">
                <a:solidFill>
                  <a:srgbClr val="FFFFFF"/>
                </a:solidFill>
              </a:rPr>
              <a:t> sin intervención del usuario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133" y="2362347"/>
            <a:ext cx="228594" cy="1257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975" y="2310912"/>
            <a:ext cx="34574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Colaboración</a:t>
            </a:r>
            <a:r>
              <a:rPr sz="1196" b="0">
                <a:solidFill>
                  <a:srgbClr val="FFFFFF"/>
                </a:solidFill>
              </a:rPr>
              <a:t> en tiempo real entre usuarios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1" y="5037294"/>
            <a:ext cx="4628187" cy="1712268"/>
          </a:xfrm>
          <a:prstGeom prst="roundRect">
            <a:avLst>
              <a:gd name="adj" fmla="val 666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2133" y="4615962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Casos de uso ideales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133" y="4658459"/>
            <a:ext cx="304792" cy="25790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133" y="5170794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5975" y="5149363"/>
            <a:ext cx="40575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Herramientas de productividad</a:t>
            </a:r>
            <a:r>
              <a:rPr sz="1196" b="0">
                <a:solidFill>
                  <a:srgbClr val="FFFFFF"/>
                </a:solidFill>
              </a:rPr>
              <a:t> y suites ofimáticas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2133" y="5611325"/>
            <a:ext cx="228594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5975" y="5568463"/>
            <a:ext cx="32003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Sistemas de </a:t>
            </a:r>
            <a:r>
              <a:rPr sz="1196" b="1">
                <a:solidFill>
                  <a:srgbClr val="FFFFFF"/>
                </a:solidFill>
              </a:rPr>
              <a:t>CRM</a:t>
            </a:r>
            <a:r>
              <a:rPr sz="1196" b="0">
                <a:solidFill>
                  <a:srgbClr val="FFFFFF"/>
                </a:solidFill>
              </a:rPr>
              <a:t> y gestión de relaciones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2133" y="5985658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975" y="5968513"/>
            <a:ext cx="359083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Plataformas de </a:t>
            </a:r>
            <a:r>
              <a:rPr sz="1196" b="1">
                <a:solidFill>
                  <a:srgbClr val="FFFFFF"/>
                </a:solidFill>
              </a:rPr>
              <a:t>comunicación</a:t>
            </a:r>
            <a:r>
              <a:rPr sz="1196" b="0">
                <a:solidFill>
                  <a:srgbClr val="FFFFFF"/>
                </a:solidFill>
              </a:rPr>
              <a:t> y colaboración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0" y="43962"/>
            <a:ext cx="5286242" cy="5038724"/>
          </a:xfrm>
          <a:prstGeom prst="roundRect">
            <a:avLst>
              <a:gd name="adj" fmla="val 453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4119" y="282088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Proveedores principales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34119" y="336307"/>
            <a:ext cx="304792" cy="23446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334119" y="815487"/>
            <a:ext cx="2333566" cy="1219200"/>
          </a:xfrm>
          <a:prstGeom prst="roundRect">
            <a:avLst>
              <a:gd name="adj" fmla="val 15625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43743" y="1002324"/>
            <a:ext cx="304792" cy="2168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81822" y="1358413"/>
            <a:ext cx="6381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Google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5624" y="1672738"/>
            <a:ext cx="78103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Workspace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10557" y="815487"/>
            <a:ext cx="2333566" cy="1219200"/>
          </a:xfrm>
          <a:prstGeom prst="roundRect">
            <a:avLst>
              <a:gd name="adj" fmla="val 15625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820181" y="981809"/>
            <a:ext cx="304792" cy="2579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553488" y="1358413"/>
            <a:ext cx="8381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0161" y="1672738"/>
            <a:ext cx="70483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Office 365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34119" y="2177563"/>
            <a:ext cx="2333566" cy="1219200"/>
          </a:xfrm>
          <a:prstGeom prst="roundRect">
            <a:avLst>
              <a:gd name="adj" fmla="val 15625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43743" y="2355607"/>
            <a:ext cx="304792" cy="23446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29426" y="2720488"/>
            <a:ext cx="93342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4219" y="3034813"/>
            <a:ext cx="32384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10557" y="2177563"/>
            <a:ext cx="2333566" cy="1219200"/>
          </a:xfrm>
          <a:prstGeom prst="roundRect">
            <a:avLst>
              <a:gd name="adj" fmla="val 15625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820181" y="2343884"/>
            <a:ext cx="304792" cy="2579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724934" y="2720488"/>
            <a:ext cx="48576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8240" y="3034813"/>
            <a:ext cx="102867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Comunicación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4119" y="3634888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625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Ventajas competitivas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334119" y="3724276"/>
            <a:ext cx="304792" cy="164123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334119" y="4194005"/>
            <a:ext cx="228594" cy="17716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657960" y="4168288"/>
            <a:ext cx="34384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Acceso inmediato</a:t>
            </a:r>
            <a:r>
              <a:rPr sz="1196" b="0">
                <a:solidFill>
                  <a:srgbClr val="FFFFFF"/>
                </a:solidFill>
              </a:rPr>
              <a:t> sin configuración técnica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334119" y="4609295"/>
            <a:ext cx="228594" cy="16573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657960" y="4577863"/>
            <a:ext cx="346701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Multiplataforma</a:t>
            </a:r>
            <a:r>
              <a:rPr sz="1196" b="0">
                <a:solidFill>
                  <a:srgbClr val="FFFFFF"/>
                </a:solidFill>
              </a:rPr>
              <a:t> y compatibilidad universal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7436" y="5366497"/>
            <a:ext cx="5286242" cy="1447542"/>
          </a:xfrm>
          <a:prstGeom prst="roundRect">
            <a:avLst>
              <a:gd name="adj" fmla="val 919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96000" y="5037895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 dirty="0">
                <a:solidFill>
                  <a:srgbClr val="4FC3F7"/>
                </a:solidFill>
              </a:rPr>
              <a:t> </a:t>
            </a:r>
            <a:r>
              <a:rPr sz="1104" dirty="0"/>
              <a:t>  </a:t>
            </a:r>
            <a:r>
              <a:rPr sz="1674" b="1" dirty="0">
                <a:solidFill>
                  <a:srgbClr val="4FC3F7"/>
                </a:solidFill>
              </a:rPr>
              <a:t> </a:t>
            </a:r>
            <a:r>
              <a:rPr sz="1674" b="1" dirty="0" err="1">
                <a:solidFill>
                  <a:srgbClr val="4FC3F7"/>
                </a:solidFill>
              </a:rPr>
              <a:t>Consideraciones</a:t>
            </a:r>
            <a:r>
              <a:rPr sz="1674" b="1" dirty="0">
                <a:solidFill>
                  <a:srgbClr val="4FC3F7"/>
                </a:solidFill>
              </a:rPr>
              <a:t> clave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334119" y="5607295"/>
            <a:ext cx="304792" cy="246184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6462703" y="6120744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81752" y="5854943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Limitaciones de personalización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476990" y="6098724"/>
            <a:ext cx="190495" cy="162485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8971016" y="5774152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10585" y="5652283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Dependencia del proveedor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983617" y="5833037"/>
            <a:ext cx="190495" cy="17088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399043" y="6201591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104" dirty="0"/>
              <a:t>  </a:t>
            </a: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0" dirty="0" err="1">
                <a:solidFill>
                  <a:srgbClr val="FFFFFF"/>
                </a:solidFill>
              </a:rPr>
              <a:t>Preocupaciones</a:t>
            </a:r>
            <a:r>
              <a:rPr sz="1076" b="0" dirty="0">
                <a:solidFill>
                  <a:srgbClr val="FFFFFF"/>
                </a:solidFill>
              </a:rPr>
              <a:t> de </a:t>
            </a:r>
            <a:r>
              <a:rPr sz="1076" b="0" dirty="0" err="1">
                <a:solidFill>
                  <a:srgbClr val="FFFFFF"/>
                </a:solidFill>
              </a:rPr>
              <a:t>privacidad</a:t>
            </a:r>
            <a:r>
              <a:rPr sz="1076" b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0904" y="6257146"/>
            <a:ext cx="2333566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Modelos de suscripción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362700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25504"/>
            <a:ext cx="789602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 dirty="0" err="1">
                <a:solidFill>
                  <a:srgbClr val="FFFFFF"/>
                </a:solidFill>
              </a:rPr>
              <a:t>FaaS</a:t>
            </a:r>
            <a:r>
              <a:rPr sz="2392" b="1" dirty="0">
                <a:solidFill>
                  <a:srgbClr val="FFFFFF"/>
                </a:solidFill>
              </a:rPr>
              <a:t> (</a:t>
            </a:r>
            <a:r>
              <a:rPr sz="2392" b="1" dirty="0" err="1">
                <a:solidFill>
                  <a:srgbClr val="FFFFFF"/>
                </a:solidFill>
              </a:rPr>
              <a:t>Funciones</a:t>
            </a:r>
            <a:r>
              <a:rPr sz="2392" b="1" dirty="0">
                <a:solidFill>
                  <a:srgbClr val="FFFFFF"/>
                </a:solidFill>
              </a:rPr>
              <a:t> </a:t>
            </a:r>
            <a:r>
              <a:rPr sz="2392" b="1" dirty="0" err="1">
                <a:solidFill>
                  <a:srgbClr val="FFFFFF"/>
                </a:solidFill>
              </a:rPr>
              <a:t>como</a:t>
            </a:r>
            <a:r>
              <a:rPr sz="2392" b="1" dirty="0">
                <a:solidFill>
                  <a:srgbClr val="FFFFFF"/>
                </a:solidFill>
              </a:rPr>
              <a:t> </a:t>
            </a:r>
            <a:r>
              <a:rPr sz="2392" b="1" dirty="0" err="1">
                <a:solidFill>
                  <a:srgbClr val="FFFFFF"/>
                </a:solidFill>
              </a:rPr>
              <a:t>servicio</a:t>
            </a:r>
            <a:r>
              <a:rPr sz="2392" b="1" dirty="0">
                <a:solidFill>
                  <a:srgbClr val="FFFFFF"/>
                </a:solidFill>
              </a:rPr>
              <a:t>) </a:t>
            </a:r>
            <a:r>
              <a:rPr sz="2392" b="1" dirty="0" err="1">
                <a:solidFill>
                  <a:srgbClr val="FFFFFF"/>
                </a:solidFill>
              </a:rPr>
              <a:t>en</a:t>
            </a:r>
            <a:r>
              <a:rPr sz="2392" b="1" dirty="0">
                <a:solidFill>
                  <a:srgbClr val="FFFFFF"/>
                </a:solidFill>
              </a:rPr>
              <a:t> </a:t>
            </a:r>
            <a:r>
              <a:rPr sz="2392" b="1" dirty="0" err="1">
                <a:solidFill>
                  <a:srgbClr val="FFFFFF"/>
                </a:solidFill>
              </a:rPr>
              <a:t>profundidad</a:t>
            </a:r>
            <a:endParaRPr sz="2392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5297" y="474820"/>
            <a:ext cx="5286242" cy="2933699"/>
          </a:xfrm>
          <a:prstGeom prst="roundRect">
            <a:avLst>
              <a:gd name="adj" fmla="val 779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3416" y="712946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Características principales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416" y="767165"/>
            <a:ext cx="304792" cy="23446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416" y="1262062"/>
            <a:ext cx="228594" cy="197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7258" y="1246345"/>
            <a:ext cx="43909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Ejecución de código en respuesta a </a:t>
            </a:r>
            <a:r>
              <a:rPr sz="1196" b="1">
                <a:solidFill>
                  <a:srgbClr val="FFFFFF"/>
                </a:solidFill>
              </a:rPr>
              <a:t>eventos específicos</a:t>
            </a:r>
            <a:r>
              <a:rPr sz="119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416" y="1687353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7258" y="1655920"/>
            <a:ext cx="43051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Modelo de </a:t>
            </a:r>
            <a:r>
              <a:rPr sz="1196" b="1">
                <a:solidFill>
                  <a:srgbClr val="FFFFFF"/>
                </a:solidFill>
              </a:rPr>
              <a:t>pago por invocación</a:t>
            </a:r>
            <a:r>
              <a:rPr sz="1196" b="0">
                <a:solidFill>
                  <a:srgbClr val="FFFFFF"/>
                </a:solidFill>
              </a:rPr>
              <a:t> y tiempo de ejecución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416" y="2071211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7258" y="2065496"/>
            <a:ext cx="441948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Escalado automático</a:t>
            </a:r>
            <a:r>
              <a:rPr sz="1196" b="0">
                <a:solidFill>
                  <a:srgbClr val="FFFFFF"/>
                </a:solidFill>
              </a:rPr>
              <a:t> según demanda sin configuración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3416" y="2486500"/>
            <a:ext cx="228594" cy="2057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57258" y="2475071"/>
            <a:ext cx="36098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Ejecución con </a:t>
            </a:r>
            <a:r>
              <a:rPr sz="1196" b="1">
                <a:solidFill>
                  <a:srgbClr val="FFFFFF"/>
                </a:solidFill>
              </a:rPr>
              <a:t>límites de tiempo</a:t>
            </a:r>
            <a:r>
              <a:rPr sz="1196" b="0">
                <a:solidFill>
                  <a:srgbClr val="FFFFFF"/>
                </a:solidFill>
              </a:rPr>
              <a:t> predefinidos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297" y="3637121"/>
            <a:ext cx="5286242" cy="3057525"/>
          </a:xfrm>
          <a:prstGeom prst="roundRect">
            <a:avLst>
              <a:gd name="adj" fmla="val 747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416" y="3884771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Casos de uso ideales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3416" y="3927267"/>
            <a:ext cx="304792" cy="25790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3416" y="4443888"/>
            <a:ext cx="228594" cy="1771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7258" y="4418170"/>
            <a:ext cx="448616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Implementación de </a:t>
            </a:r>
            <a:r>
              <a:rPr sz="1196" b="1">
                <a:solidFill>
                  <a:srgbClr val="FFFFFF"/>
                </a:solidFill>
              </a:rPr>
              <a:t>microservicios</a:t>
            </a:r>
            <a:r>
              <a:rPr sz="1196" b="0">
                <a:solidFill>
                  <a:srgbClr val="FFFFFF"/>
                </a:solidFill>
              </a:rPr>
              <a:t> y arquitecturas sin servidor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3416" y="5090636"/>
            <a:ext cx="228594" cy="2171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57258" y="5084921"/>
            <a:ext cx="388610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Procesamiento en tiempo real</a:t>
            </a:r>
            <a:r>
              <a:rPr sz="1196" b="0">
                <a:solidFill>
                  <a:srgbClr val="FFFFFF"/>
                </a:solidFill>
              </a:rPr>
              <a:t> de flujos de datos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3416" y="5509736"/>
            <a:ext cx="228594" cy="2171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7258" y="5504020"/>
            <a:ext cx="448616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Creación de </a:t>
            </a:r>
            <a:r>
              <a:rPr sz="1196" b="1">
                <a:solidFill>
                  <a:srgbClr val="FFFFFF"/>
                </a:solidFill>
              </a:rPr>
              <a:t>APIs sin servidor</a:t>
            </a:r>
            <a:r>
              <a:rPr sz="1196" b="0">
                <a:solidFill>
                  <a:srgbClr val="FFFFFF"/>
                </a:solidFill>
              </a:rPr>
              <a:t> para aplicaciones web y móviles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7283" y="474820"/>
            <a:ext cx="5286242" cy="3495675"/>
          </a:xfrm>
          <a:prstGeom prst="roundRect">
            <a:avLst>
              <a:gd name="adj" fmla="val 653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5402" y="712946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Proveedores principales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05402" y="775957"/>
            <a:ext cx="304792" cy="21687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405402" y="1246345"/>
            <a:ext cx="1447763" cy="1038224"/>
          </a:xfrm>
          <a:prstGeom prst="roundRect">
            <a:avLst>
              <a:gd name="adj" fmla="val 1834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8273" y="1389221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8273" y="1703546"/>
            <a:ext cx="116202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Lambda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1284" y="1246345"/>
            <a:ext cx="1447763" cy="1038224"/>
          </a:xfrm>
          <a:prstGeom prst="roundRect">
            <a:avLst>
              <a:gd name="adj" fmla="val 1834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4156" y="1389221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4156" y="1703546"/>
            <a:ext cx="116202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Azure Functions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77167" y="1246345"/>
            <a:ext cx="1447763" cy="1038224"/>
          </a:xfrm>
          <a:prstGeom prst="roundRect">
            <a:avLst>
              <a:gd name="adj" fmla="val 1834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10514" y="1389221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Google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0514" y="1703546"/>
            <a:ext cx="1162020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Cloud Functions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5402" y="2522696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625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Ventajas competitivas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05402" y="2612084"/>
            <a:ext cx="304792" cy="164123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05402" y="3077527"/>
            <a:ext cx="228594" cy="18573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29243" y="3056095"/>
            <a:ext cx="36098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Coste eficiente</a:t>
            </a:r>
            <a:r>
              <a:rPr sz="1196" b="0">
                <a:solidFill>
                  <a:srgbClr val="FFFFFF"/>
                </a:solidFill>
              </a:rPr>
              <a:t> solo por recursos consumidos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405402" y="3482816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29243" y="3465671"/>
            <a:ext cx="397182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Sin mantenimiento</a:t>
            </a:r>
            <a:r>
              <a:rPr sz="1196" b="0">
                <a:solidFill>
                  <a:srgbClr val="FFFFFF"/>
                </a:solidFill>
              </a:rPr>
              <a:t> de infraestructura subyacente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7283" y="4208621"/>
            <a:ext cx="5286242" cy="2486025"/>
          </a:xfrm>
          <a:prstGeom prst="roundRect">
            <a:avLst>
              <a:gd name="adj" fmla="val 919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5402" y="4446745"/>
            <a:ext cx="48100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4FC3F7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4FC3F7"/>
                </a:solidFill>
              </a:rPr>
              <a:t> Consideraciones clave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05402" y="4495103"/>
            <a:ext cx="304792" cy="24618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405402" y="4980146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5402" y="4980146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Cold start en primera invocación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548273" y="5232278"/>
            <a:ext cx="190495" cy="162485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881840" y="4980146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81840" y="4980146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Límites de tiempo de ejecución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9024711" y="5225274"/>
            <a:ext cx="190495" cy="176492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405402" y="5789770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5402" y="5789770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Restricciones de recursos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548273" y="6047506"/>
            <a:ext cx="190495" cy="151279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881840" y="5789770"/>
            <a:ext cx="2333566" cy="666750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81840" y="5789770"/>
            <a:ext cx="2333566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Complejidad de depuración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024711" y="6053109"/>
            <a:ext cx="190495" cy="1400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152400"/>
            <a:ext cx="4152796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</a:rPr>
              <a:t>Casos de </a:t>
            </a:r>
            <a:r>
              <a:rPr sz="2392" b="1" dirty="0" err="1">
                <a:solidFill>
                  <a:srgbClr val="FFFFFF"/>
                </a:solidFill>
              </a:rPr>
              <a:t>éxito</a:t>
            </a:r>
            <a:r>
              <a:rPr sz="2392" b="1" dirty="0">
                <a:solidFill>
                  <a:srgbClr val="FFFFFF"/>
                </a:solidFill>
              </a:rPr>
              <a:t> </a:t>
            </a:r>
            <a:r>
              <a:rPr sz="2392" b="1" dirty="0" err="1">
                <a:solidFill>
                  <a:srgbClr val="FFFFFF"/>
                </a:solidFill>
              </a:rPr>
              <a:t>por</a:t>
            </a:r>
            <a:r>
              <a:rPr sz="2392" b="1" dirty="0">
                <a:solidFill>
                  <a:srgbClr val="FFFFFF"/>
                </a:solidFill>
              </a:rPr>
              <a:t> sector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2931" y="411227"/>
            <a:ext cx="5314817" cy="3495675"/>
          </a:xfrm>
          <a:prstGeom prst="roundRect">
            <a:avLst>
              <a:gd name="adj" fmla="val 653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1050" y="681037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4397" y="830506"/>
            <a:ext cx="304792" cy="2725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5407" y="795337"/>
            <a:ext cx="195257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Sector financiero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1050" y="1395411"/>
            <a:ext cx="2343091" cy="1209674"/>
          </a:xfrm>
          <a:prstGeom prst="roundRect">
            <a:avLst>
              <a:gd name="adj" fmla="val 1259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3921" y="1509711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BBVA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21" y="1824036"/>
            <a:ext cx="2057348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Nube privada para datos críticos y sistemas financieros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013" y="1395411"/>
            <a:ext cx="2343091" cy="1209674"/>
          </a:xfrm>
          <a:prstGeom prst="roundRect">
            <a:avLst>
              <a:gd name="adj" fmla="val 1259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09884" y="1509711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Capital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9884" y="1824036"/>
            <a:ext cx="2057348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Migración de mainframes a AWS con control de seguridad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1050" y="2747962"/>
            <a:ext cx="2343091" cy="952499"/>
          </a:xfrm>
          <a:prstGeom prst="roundRect">
            <a:avLst>
              <a:gd name="adj" fmla="val 16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3526" y="2862262"/>
            <a:ext cx="4381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3205162"/>
            <a:ext cx="199067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Reducción de costes operativos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7013" y="2747962"/>
            <a:ext cx="2343091" cy="952499"/>
          </a:xfrm>
          <a:prstGeom prst="roundRect">
            <a:avLst>
              <a:gd name="adj" fmla="val 16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4261" y="2862262"/>
            <a:ext cx="23811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9884" y="3205162"/>
            <a:ext cx="2057348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Aceleración en lanzamiento de productos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6342" y="442911"/>
            <a:ext cx="5314817" cy="3495675"/>
          </a:xfrm>
          <a:prstGeom prst="roundRect">
            <a:avLst>
              <a:gd name="adj" fmla="val 653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33986" y="681037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3" y="837833"/>
            <a:ext cx="304792" cy="2579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38818" y="795337"/>
            <a:ext cx="139061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Sector retail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3986" y="1395411"/>
            <a:ext cx="2343091" cy="1209674"/>
          </a:xfrm>
          <a:prstGeom prst="roundRect">
            <a:avLst>
              <a:gd name="adj" fmla="val 1259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67333" y="1509711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Walmart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333" y="1824036"/>
            <a:ext cx="2057348" cy="4476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Análisis de datos en la nube para optimizar logística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19949" y="1395411"/>
            <a:ext cx="2343091" cy="1209674"/>
          </a:xfrm>
          <a:prstGeom prst="roundRect">
            <a:avLst>
              <a:gd name="adj" fmla="val 1259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62820" y="1509711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Amazon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820" y="1824036"/>
            <a:ext cx="2057348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Infraestructura escalable para picos de demanda estacional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3986" y="2747962"/>
            <a:ext cx="2343091" cy="952499"/>
          </a:xfrm>
          <a:prstGeom prst="roundRect">
            <a:avLst>
              <a:gd name="adj" fmla="val 16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86462" y="2862262"/>
            <a:ext cx="4381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333" y="3205162"/>
            <a:ext cx="2057348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Mejora en experiencia del cliente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9949" y="2747962"/>
            <a:ext cx="2343091" cy="952499"/>
          </a:xfrm>
          <a:prstGeom prst="roundRect">
            <a:avLst>
              <a:gd name="adj" fmla="val 16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72425" y="2862262"/>
            <a:ext cx="4381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820" y="3205162"/>
            <a:ext cx="2057348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Reducción en tiempo de procesamiento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32" y="4021203"/>
            <a:ext cx="5314817" cy="2547550"/>
          </a:xfrm>
          <a:prstGeom prst="roundRect">
            <a:avLst>
              <a:gd name="adj" fmla="val 653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81050" y="4571632"/>
            <a:ext cx="571485" cy="414703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4397" y="4571633"/>
            <a:ext cx="304792" cy="2579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695407" y="4529136"/>
            <a:ext cx="141918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Sector salud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1050" y="5461097"/>
            <a:ext cx="2343091" cy="877787"/>
          </a:xfrm>
          <a:prstGeom prst="roundRect">
            <a:avLst>
              <a:gd name="adj" fmla="val 1259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3921" y="5243511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Teladoc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3921" y="5557836"/>
            <a:ext cx="2057348" cy="4476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Plataforma de telemedicina con acceso global seguro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67013" y="5461097"/>
            <a:ext cx="2343091" cy="877787"/>
          </a:xfrm>
          <a:prstGeom prst="roundRect">
            <a:avLst>
              <a:gd name="adj" fmla="val 1259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09884" y="5243511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Epic 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9884" y="5557836"/>
            <a:ext cx="2057348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Historiales clínicos en nube híbrida con cumplimiento HIPAA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23310" y="3971924"/>
            <a:ext cx="5177850" cy="2596828"/>
          </a:xfrm>
          <a:prstGeom prst="roundRect">
            <a:avLst>
              <a:gd name="adj" fmla="val 653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533986" y="4571632"/>
            <a:ext cx="571485" cy="414703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3" y="4592148"/>
            <a:ext cx="304792" cy="21687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238818" y="4529136"/>
            <a:ext cx="266693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Sector entretenimiento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33986" y="5461097"/>
            <a:ext cx="2343091" cy="877787"/>
          </a:xfrm>
          <a:prstGeom prst="roundRect">
            <a:avLst>
              <a:gd name="adj" fmla="val 1259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67333" y="5243511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Netflix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7333" y="5557836"/>
            <a:ext cx="2057348" cy="4476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Streaming global con escalado dinámico en AWS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19949" y="5461097"/>
            <a:ext cx="2343091" cy="877787"/>
          </a:xfrm>
          <a:prstGeom prst="roundRect">
            <a:avLst>
              <a:gd name="adj" fmla="val 1259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162820" y="5243511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FFFF"/>
                </a:solidFill>
              </a:rPr>
              <a:t>Spotify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62820" y="5557836"/>
            <a:ext cx="2057348" cy="666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Procesamiento de datos y recomendaciones personalizadas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305550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23813"/>
            <a:ext cx="5705332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 dirty="0" err="1">
                <a:solidFill>
                  <a:srgbClr val="FFFFFF"/>
                </a:solidFill>
              </a:rPr>
              <a:t>Estrategias</a:t>
            </a:r>
            <a:r>
              <a:rPr sz="2392" b="1" dirty="0">
                <a:solidFill>
                  <a:srgbClr val="FFFFFF"/>
                </a:solidFill>
              </a:rPr>
              <a:t> de </a:t>
            </a:r>
            <a:r>
              <a:rPr sz="2392" b="1" dirty="0" err="1">
                <a:solidFill>
                  <a:srgbClr val="FFFFFF"/>
                </a:solidFill>
              </a:rPr>
              <a:t>migración</a:t>
            </a:r>
            <a:r>
              <a:rPr sz="2392" b="1" dirty="0">
                <a:solidFill>
                  <a:srgbClr val="FFFFFF"/>
                </a:solidFill>
              </a:rPr>
              <a:t> a la </a:t>
            </a:r>
            <a:r>
              <a:rPr sz="2392" b="1" dirty="0" err="1">
                <a:solidFill>
                  <a:srgbClr val="FFFFFF"/>
                </a:solidFill>
              </a:rPr>
              <a:t>nube</a:t>
            </a:r>
            <a:endParaRPr sz="2392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82757" y="682163"/>
            <a:ext cx="3295567" cy="2894357"/>
          </a:xfrm>
          <a:prstGeom prst="roundRect">
            <a:avLst>
              <a:gd name="adj" fmla="val 712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3252" y="603916"/>
            <a:ext cx="448987" cy="42942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8024" y="720772"/>
            <a:ext cx="251433" cy="1585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63787" y="648682"/>
            <a:ext cx="924914" cy="3316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Rehosting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253" y="1123313"/>
            <a:ext cx="2936378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Lift-and-shift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253" y="1557619"/>
            <a:ext cx="2936378" cy="483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</a:rPr>
              <a:t>Migración directa de aplicaciones existentes a la nube sin cambios significativos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52" y="2234051"/>
            <a:ext cx="161635" cy="1407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0897" y="2300059"/>
            <a:ext cx="2702904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Rápida implementación</a:t>
            </a:r>
            <a:r>
              <a:rPr sz="956" b="0">
                <a:solidFill>
                  <a:srgbClr val="FFFFFF"/>
                </a:solidFill>
              </a:rPr>
              <a:t> con mínima interrupción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52" y="2710301"/>
            <a:ext cx="161635" cy="14078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0897" y="2666465"/>
            <a:ext cx="1813908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Ideal para </a:t>
            </a:r>
            <a:r>
              <a:rPr sz="956" b="1">
                <a:solidFill>
                  <a:srgbClr val="FFFFFF"/>
                </a:solidFill>
              </a:rPr>
              <a:t>aplicaciones legacy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253" y="3042476"/>
            <a:ext cx="2936378" cy="343543"/>
          </a:xfrm>
          <a:prstGeom prst="roundRect">
            <a:avLst>
              <a:gd name="adj" fmla="val 4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3253" y="3073888"/>
            <a:ext cx="2936378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Capital One migró mainframes a AWS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500" y="3134299"/>
            <a:ext cx="161635" cy="13035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268840" y="682163"/>
            <a:ext cx="3295567" cy="2894357"/>
          </a:xfrm>
          <a:prstGeom prst="roundRect">
            <a:avLst>
              <a:gd name="adj" fmla="val 712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59335" y="603916"/>
            <a:ext cx="448987" cy="42942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4107" y="684831"/>
            <a:ext cx="251433" cy="2350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49871" y="648682"/>
            <a:ext cx="1337982" cy="3316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Replatforming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336" y="1123313"/>
            <a:ext cx="2936378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Lift-and-reshape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9336" y="1667464"/>
            <a:ext cx="2936378" cy="483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</a:rPr>
              <a:t>Migración con optimizaciones menores para aprovechar ventajas de la nube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335" y="2434076"/>
            <a:ext cx="161635" cy="1407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06979" y="2390241"/>
            <a:ext cx="2146160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Mejora </a:t>
            </a:r>
            <a:r>
              <a:rPr sz="956" b="1">
                <a:solidFill>
                  <a:srgbClr val="FFFFFF"/>
                </a:solidFill>
              </a:rPr>
              <a:t>rendimiento y escalabilidad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335" y="2710301"/>
            <a:ext cx="161635" cy="14078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06979" y="2666465"/>
            <a:ext cx="2146160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Balance entre </a:t>
            </a:r>
            <a:r>
              <a:rPr sz="956" b="1">
                <a:solidFill>
                  <a:srgbClr val="FFFFFF"/>
                </a:solidFill>
              </a:rPr>
              <a:t>esfuerzo y beneficios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9336" y="3042476"/>
            <a:ext cx="2936378" cy="343543"/>
          </a:xfrm>
          <a:prstGeom prst="roundRect">
            <a:avLst>
              <a:gd name="adj" fmla="val 4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59336" y="3073888"/>
            <a:ext cx="2936378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Netflix optimizó streaming en AWS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4583" y="3139196"/>
            <a:ext cx="161635" cy="11992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945398" y="682163"/>
            <a:ext cx="3295567" cy="2894357"/>
          </a:xfrm>
          <a:prstGeom prst="roundRect">
            <a:avLst>
              <a:gd name="adj" fmla="val 712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35893" y="603916"/>
            <a:ext cx="448987" cy="42942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665" y="695101"/>
            <a:ext cx="251433" cy="21317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26429" y="648682"/>
            <a:ext cx="1266144" cy="3316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Repurchasing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5894" y="1123313"/>
            <a:ext cx="2936378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SaaS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5894" y="1667464"/>
            <a:ext cx="2936378" cy="483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</a:rPr>
              <a:t>Reemplazo de aplicaciones locales por soluciones SaaS comerciales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893" y="2434076"/>
            <a:ext cx="161635" cy="14078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83537" y="2390241"/>
            <a:ext cx="2550248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Elimina mantenimiento</a:t>
            </a:r>
            <a:r>
              <a:rPr sz="956" b="0">
                <a:solidFill>
                  <a:srgbClr val="FFFFFF"/>
                </a:solidFill>
              </a:rPr>
              <a:t> de infraestructura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893" y="2710301"/>
            <a:ext cx="161635" cy="14078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83538" y="2666465"/>
            <a:ext cx="2209018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Acceso a </a:t>
            </a:r>
            <a:r>
              <a:rPr sz="956" b="1">
                <a:solidFill>
                  <a:srgbClr val="FFFFFF"/>
                </a:solidFill>
              </a:rPr>
              <a:t>funcionalidades avanzadas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5894" y="3042476"/>
            <a:ext cx="2936378" cy="343543"/>
          </a:xfrm>
          <a:prstGeom prst="roundRect">
            <a:avLst>
              <a:gd name="adj" fmla="val 4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5894" y="3073888"/>
            <a:ext cx="2936378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Empresas adoptan Google Workspace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31141" y="3139196"/>
            <a:ext cx="161635" cy="11992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582757" y="3767020"/>
            <a:ext cx="3495587" cy="3009900"/>
          </a:xfrm>
          <a:prstGeom prst="roundRect">
            <a:avLst>
              <a:gd name="adj" fmla="val 759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73252" y="4004341"/>
            <a:ext cx="448987" cy="42942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8024" y="4103228"/>
            <a:ext cx="251433" cy="19677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63787" y="4039583"/>
            <a:ext cx="1068589" cy="3316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Refactoring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3253" y="4523739"/>
            <a:ext cx="2936378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Re-arquitectura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3253" y="4958045"/>
            <a:ext cx="2936378" cy="483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</a:rPr>
              <a:t>Rediseño completo de aplicaciones para aprovechar características nativas de la nube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52" y="5634476"/>
            <a:ext cx="161635" cy="14078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20896" y="5590641"/>
            <a:ext cx="2235957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Máxima optimización</a:t>
            </a:r>
            <a:r>
              <a:rPr sz="956" b="0">
                <a:solidFill>
                  <a:srgbClr val="FFFFFF"/>
                </a:solidFill>
              </a:rPr>
              <a:t> y escalabilidad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52" y="5910701"/>
            <a:ext cx="161635" cy="14078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20896" y="5866866"/>
            <a:ext cx="1948605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Requiere </a:t>
            </a:r>
            <a:r>
              <a:rPr sz="956" b="1">
                <a:solidFill>
                  <a:srgbClr val="FFFFFF"/>
                </a:solidFill>
              </a:rPr>
              <a:t>mayor inversión</a:t>
            </a:r>
            <a:r>
              <a:rPr sz="956" b="0">
                <a:solidFill>
                  <a:srgbClr val="FFFFFF"/>
                </a:solidFill>
              </a:rPr>
              <a:t> inicial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3253" y="6233351"/>
            <a:ext cx="2936378" cy="343543"/>
          </a:xfrm>
          <a:prstGeom prst="roundRect">
            <a:avLst>
              <a:gd name="adj" fmla="val 4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3253" y="6264763"/>
            <a:ext cx="2936378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Shopify re-arquitectó para Google Cloud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8500" y="6320276"/>
            <a:ext cx="161635" cy="140783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4268840" y="3767020"/>
            <a:ext cx="3495587" cy="3009900"/>
          </a:xfrm>
          <a:prstGeom prst="roundRect">
            <a:avLst>
              <a:gd name="adj" fmla="val 759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459335" y="4004341"/>
            <a:ext cx="448987" cy="42942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64107" y="4085256"/>
            <a:ext cx="251433" cy="23504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049870" y="4039583"/>
            <a:ext cx="880015" cy="3316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Retaining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59336" y="4523739"/>
            <a:ext cx="2936378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Mantener en local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59336" y="4853431"/>
            <a:ext cx="2936378" cy="483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</a:rPr>
              <a:t>Decisión consciente de mantener ciertas aplicaciones en infraestructura propia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335" y="5443976"/>
            <a:ext cx="161635" cy="14078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706979" y="5400140"/>
            <a:ext cx="1697171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Aplicable a </a:t>
            </a:r>
            <a:r>
              <a:rPr sz="956" b="1">
                <a:solidFill>
                  <a:srgbClr val="FFFFFF"/>
                </a:solidFill>
              </a:rPr>
              <a:t>sistemas críticos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335" y="5720201"/>
            <a:ext cx="161635" cy="14078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706979" y="5676366"/>
            <a:ext cx="1966564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Por </a:t>
            </a:r>
            <a:r>
              <a:rPr sz="956" b="1">
                <a:solidFill>
                  <a:srgbClr val="FFFFFF"/>
                </a:solidFill>
              </a:rPr>
              <a:t>requerimientos regulatorios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59336" y="6061580"/>
            <a:ext cx="2936378" cy="515316"/>
          </a:xfrm>
          <a:prstGeom prst="roundRect">
            <a:avLst>
              <a:gd name="adj" fmla="val 26666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59336" y="6178879"/>
            <a:ext cx="2936378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BBVA mantiene sistemas financieros críticos 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54583" y="6222576"/>
            <a:ext cx="161635" cy="145997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7945398" y="3767020"/>
            <a:ext cx="3495587" cy="3009900"/>
          </a:xfrm>
          <a:prstGeom prst="roundRect">
            <a:avLst>
              <a:gd name="adj" fmla="val 759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135893" y="4004341"/>
            <a:ext cx="448987" cy="42942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40665" y="4103228"/>
            <a:ext cx="251433" cy="19677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726428" y="3929168"/>
            <a:ext cx="736339" cy="5524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Retiring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35894" y="4523739"/>
            <a:ext cx="2936378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Eliminar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5894" y="4958045"/>
            <a:ext cx="2936378" cy="483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</a:rPr>
              <a:t>Eliminación de aplicaciones obsoletas o innecesarias durante la migración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893" y="5634476"/>
            <a:ext cx="161635" cy="14078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383538" y="5590641"/>
            <a:ext cx="1903706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Reducción de costes</a:t>
            </a:r>
            <a:r>
              <a:rPr sz="956" b="0">
                <a:solidFill>
                  <a:srgbClr val="FFFFFF"/>
                </a:solidFill>
              </a:rPr>
              <a:t> operativos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893" y="5910701"/>
            <a:ext cx="161635" cy="140783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383537" y="5866866"/>
            <a:ext cx="2693924" cy="268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Simplificación del </a:t>
            </a:r>
            <a:r>
              <a:rPr sz="956" b="1">
                <a:solidFill>
                  <a:srgbClr val="FFFFFF"/>
                </a:solidFill>
              </a:rPr>
              <a:t>portafolio de aplicaciones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35894" y="6233351"/>
            <a:ext cx="2936378" cy="343543"/>
          </a:xfrm>
          <a:prstGeom prst="roundRect">
            <a:avLst>
              <a:gd name="adj" fmla="val 40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135894" y="6264763"/>
            <a:ext cx="2936378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GE eliminó sistemas legacy al migrar 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31141" y="6323950"/>
            <a:ext cx="161635" cy="1329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296024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269644"/>
            <a:ext cx="3524161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 dirty="0" err="1">
                <a:solidFill>
                  <a:srgbClr val="FFFFFF"/>
                </a:solidFill>
              </a:rPr>
              <a:t>Seguridad</a:t>
            </a:r>
            <a:r>
              <a:rPr sz="2392" b="1" dirty="0">
                <a:solidFill>
                  <a:srgbClr val="FFFFFF"/>
                </a:solidFill>
              </a:rPr>
              <a:t> </a:t>
            </a:r>
            <a:r>
              <a:rPr sz="2392" b="1" dirty="0" err="1">
                <a:solidFill>
                  <a:srgbClr val="FFFFFF"/>
                </a:solidFill>
              </a:rPr>
              <a:t>en</a:t>
            </a:r>
            <a:r>
              <a:rPr sz="2392" b="1" dirty="0">
                <a:solidFill>
                  <a:srgbClr val="FFFFFF"/>
                </a:solidFill>
              </a:rPr>
              <a:t> la </a:t>
            </a:r>
            <a:r>
              <a:rPr sz="2392" b="1" dirty="0" err="1">
                <a:solidFill>
                  <a:srgbClr val="FFFFFF"/>
                </a:solidFill>
              </a:rPr>
              <a:t>nube</a:t>
            </a:r>
            <a:endParaRPr sz="2392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33089" y="1009651"/>
            <a:ext cx="4543311" cy="2419349"/>
          </a:xfrm>
          <a:prstGeom prst="roundRect">
            <a:avLst>
              <a:gd name="adj" fmla="val 733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1208" y="680033"/>
            <a:ext cx="488527" cy="443917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04555" y="736285"/>
            <a:ext cx="260548" cy="2455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85565" y="692259"/>
            <a:ext cx="2638051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Modelo de responsabilidad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1208" y="1844326"/>
            <a:ext cx="2002965" cy="1346549"/>
          </a:xfrm>
          <a:prstGeom prst="roundRect">
            <a:avLst>
              <a:gd name="adj" fmla="val 10989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309" y="1677249"/>
            <a:ext cx="293116" cy="2274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6040" y="1943706"/>
            <a:ext cx="806071" cy="5155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</a:rPr>
              <a:t>Proveedor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079" y="2450942"/>
            <a:ext cx="1758701" cy="67621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Seguridad de la infraestructura física, virtualización y 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171" y="1844326"/>
            <a:ext cx="2002965" cy="1346549"/>
          </a:xfrm>
          <a:prstGeom prst="roundRect">
            <a:avLst>
              <a:gd name="adj" fmla="val 10989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7272" y="1685639"/>
            <a:ext cx="293116" cy="2072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14399" y="1943706"/>
            <a:ext cx="545523" cy="5155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</a:rPr>
              <a:t>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0042" y="2450942"/>
            <a:ext cx="1758701" cy="67621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Seguridad de datos, aplicaciones, identidades y accesos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6500" y="1009651"/>
            <a:ext cx="4543311" cy="2419349"/>
          </a:xfrm>
          <a:prstGeom prst="roundRect">
            <a:avLst>
              <a:gd name="adj" fmla="val 733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24144" y="680033"/>
            <a:ext cx="488527" cy="443917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7491" y="741485"/>
            <a:ext cx="260548" cy="2329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8976" y="692259"/>
            <a:ext cx="2515919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Mecanismos de seguridad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4144" y="1355745"/>
            <a:ext cx="195411" cy="17587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67035" y="1315378"/>
            <a:ext cx="2719473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Cifrado de datos</a:t>
            </a:r>
            <a:r>
              <a:rPr sz="1196" b="0">
                <a:solidFill>
                  <a:srgbClr val="FFFFFF"/>
                </a:solidFill>
              </a:rPr>
              <a:t> en tránsito y en reposo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4144" y="1761265"/>
            <a:ext cx="195411" cy="1856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67035" y="1724952"/>
            <a:ext cx="3468549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Autenticación multifactor</a:t>
            </a:r>
            <a:r>
              <a:rPr sz="1196" b="0">
                <a:solidFill>
                  <a:srgbClr val="FFFFFF"/>
                </a:solidFill>
              </a:rPr>
              <a:t> y gestión de identidades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24144" y="2185034"/>
            <a:ext cx="195411" cy="15144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67035" y="2134528"/>
            <a:ext cx="3126579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Control de accesos</a:t>
            </a:r>
            <a:r>
              <a:rPr sz="1196" b="0">
                <a:solidFill>
                  <a:srgbClr val="FFFFFF"/>
                </a:solidFill>
              </a:rPr>
              <a:t> basado en roles y políticas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3089" y="4345441"/>
            <a:ext cx="4543311" cy="2360160"/>
          </a:xfrm>
          <a:prstGeom prst="roundRect">
            <a:avLst>
              <a:gd name="adj" fmla="val 752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71208" y="4032833"/>
            <a:ext cx="488527" cy="443917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04555" y="4089085"/>
            <a:ext cx="260548" cy="2455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85565" y="4045059"/>
            <a:ext cx="2467066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Cumplimiento normativo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71208" y="4893055"/>
            <a:ext cx="781645" cy="288546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1208" y="4893055"/>
            <a:ext cx="781645" cy="2885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GDPR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14080" y="4943713"/>
            <a:ext cx="146558" cy="137106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180833" y="4893055"/>
            <a:ext cx="797929" cy="288546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80833" y="4893055"/>
            <a:ext cx="797929" cy="2885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HIPAA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23705" y="4947638"/>
            <a:ext cx="146558" cy="127651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209507" y="4893055"/>
            <a:ext cx="911919" cy="288546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9507" y="4893055"/>
            <a:ext cx="911919" cy="2885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PCI DSS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52379" y="4955487"/>
            <a:ext cx="146558" cy="108739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371529" y="4893055"/>
            <a:ext cx="683938" cy="288546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71529" y="4893055"/>
            <a:ext cx="683938" cy="2885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SOX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14400" y="4945674"/>
            <a:ext cx="146558" cy="13237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171208" y="5359780"/>
            <a:ext cx="1042193" cy="288546"/>
          </a:xfrm>
          <a:prstGeom prst="roundRect">
            <a:avLst>
              <a:gd name="adj" fmla="val 102564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1208" y="5359780"/>
            <a:ext cx="1042193" cy="2885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ISO 27001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314080" y="5410438"/>
            <a:ext cx="146558" cy="137106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171208" y="5842634"/>
            <a:ext cx="195411" cy="15144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514099" y="5792128"/>
            <a:ext cx="2613625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Certificaciones</a:t>
            </a:r>
            <a:r>
              <a:rPr sz="1196" b="0">
                <a:solidFill>
                  <a:srgbClr val="FFFFFF"/>
                </a:solidFill>
              </a:rPr>
              <a:t> y auditorías periódicas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171208" y="6246126"/>
            <a:ext cx="195411" cy="16610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514099" y="6201702"/>
            <a:ext cx="2890457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Documentación</a:t>
            </a:r>
            <a:r>
              <a:rPr sz="1196" b="0">
                <a:solidFill>
                  <a:srgbClr val="FFFFFF"/>
                </a:solidFill>
              </a:rPr>
              <a:t> de controles de seguridad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76500" y="4345441"/>
            <a:ext cx="4543311" cy="2360160"/>
          </a:xfrm>
          <a:prstGeom prst="roundRect">
            <a:avLst>
              <a:gd name="adj" fmla="val 752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724144" y="4032833"/>
            <a:ext cx="488527" cy="443917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857491" y="4089085"/>
            <a:ext cx="260548" cy="2455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28977" y="4045059"/>
            <a:ext cx="1701706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Mejores prácticas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724144" y="4726796"/>
            <a:ext cx="195411" cy="13190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67035" y="4668178"/>
            <a:ext cx="3378986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Monitorización continua</a:t>
            </a:r>
            <a:r>
              <a:rPr sz="1196" b="0">
                <a:solidFill>
                  <a:srgbClr val="FFFFFF"/>
                </a:solidFill>
              </a:rPr>
              <a:t> de actividades y accesos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724144" y="5132316"/>
            <a:ext cx="195411" cy="14167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67036" y="5077753"/>
            <a:ext cx="3134722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Copias de seguridad</a:t>
            </a:r>
            <a:r>
              <a:rPr sz="1196" b="0">
                <a:solidFill>
                  <a:srgbClr val="FFFFFF"/>
                </a:solidFill>
              </a:rPr>
              <a:t> y planes de recuperación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724144" y="5537834"/>
            <a:ext cx="195411" cy="15144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67035" y="5535030"/>
            <a:ext cx="3843087" cy="5552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Evaluaciones de vulnerabilidades</a:t>
            </a:r>
            <a:r>
              <a:rPr sz="1196" b="0">
                <a:solidFill>
                  <a:srgbClr val="FFFFFF"/>
                </a:solidFill>
              </a:rPr>
              <a:t> y pruebas de penetración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724144" y="6214109"/>
            <a:ext cx="195411" cy="15144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67036" y="6163603"/>
            <a:ext cx="2711330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Formación</a:t>
            </a:r>
            <a:r>
              <a:rPr sz="1196" b="0">
                <a:solidFill>
                  <a:srgbClr val="FFFFFF"/>
                </a:solidFill>
              </a:rPr>
              <a:t> continua en seguridad cloud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276975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5762" y="-14873"/>
            <a:ext cx="5752956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Tendencias emergentes en la nube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0039" y="954250"/>
            <a:ext cx="2857428" cy="2187250"/>
          </a:xfrm>
          <a:prstGeom prst="roundRect">
            <a:avLst>
              <a:gd name="adj" fmla="val 745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98159" y="476514"/>
            <a:ext cx="472302" cy="407562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1505" y="527527"/>
            <a:ext cx="251894" cy="1792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12515" y="369208"/>
            <a:ext cx="1621570" cy="5524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Multicloud e híbrida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158" y="1204918"/>
            <a:ext cx="2463843" cy="101688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Estrategias combinando múltiples proveedores para optimizar costes, evitar vendor lock-in y maximizar rendimiento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158" y="2427886"/>
            <a:ext cx="2463843" cy="475489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8158" y="2525271"/>
            <a:ext cx="2463843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FFFFFF"/>
                </a:solidFill>
              </a:rPr>
              <a:t>Flexibilidad</a:t>
            </a:r>
            <a:r>
              <a:rPr sz="1076" b="0">
                <a:solidFill>
                  <a:srgbClr val="FFFFFF"/>
                </a:solidFill>
              </a:rPr>
              <a:t> y resiliencia empresarial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30" y="2535249"/>
            <a:ext cx="157434" cy="8797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455646" y="954250"/>
            <a:ext cx="2857428" cy="2187250"/>
          </a:xfrm>
          <a:prstGeom prst="roundRect">
            <a:avLst>
              <a:gd name="adj" fmla="val 745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93766" y="476514"/>
            <a:ext cx="472302" cy="407562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7112" y="521787"/>
            <a:ext cx="251894" cy="1937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08123" y="369208"/>
            <a:ext cx="1755389" cy="5524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Serverless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3765" y="1204918"/>
            <a:ext cx="2463843" cy="101688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Ejecución de código sin gestionar infraestructura, pagando únicamente por recursos consumidos durante la ejecución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3765" y="2427886"/>
            <a:ext cx="2463843" cy="475489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3765" y="2442492"/>
            <a:ext cx="2463843" cy="4462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FFFFFF"/>
                </a:solidFill>
              </a:rPr>
              <a:t>Reducción drástica</a:t>
            </a:r>
            <a:r>
              <a:rPr sz="1076" b="0">
                <a:solidFill>
                  <a:srgbClr val="FFFFFF"/>
                </a:solidFill>
              </a:rPr>
              <a:t> de costes operativos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6638" y="2518785"/>
            <a:ext cx="157434" cy="12965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160779" y="954250"/>
            <a:ext cx="2857428" cy="2187250"/>
          </a:xfrm>
          <a:prstGeom prst="roundRect">
            <a:avLst>
              <a:gd name="adj" fmla="val 745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98899" y="476514"/>
            <a:ext cx="472302" cy="407562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2245" y="516046"/>
            <a:ext cx="251894" cy="2083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13255" y="369208"/>
            <a:ext cx="1322445" cy="5524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Contenerización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8898" y="1204918"/>
            <a:ext cx="2463843" cy="101688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Empaquetado de aplicaciones con dependencias en contenedores ligeros y portables, gestionados con Kubernetes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8898" y="2427886"/>
            <a:ext cx="2463843" cy="475489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8898" y="2525271"/>
            <a:ext cx="2463843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FFFFFF"/>
                </a:solidFill>
              </a:rPr>
              <a:t>Portabilidad</a:t>
            </a:r>
            <a:r>
              <a:rPr sz="1076" b="0">
                <a:solidFill>
                  <a:srgbClr val="FFFFFF"/>
                </a:solidFill>
              </a:rPr>
              <a:t> y escalado simplificado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1770" y="2525188"/>
            <a:ext cx="157434" cy="11344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60039" y="4259426"/>
            <a:ext cx="2857428" cy="2187250"/>
          </a:xfrm>
          <a:prstGeom prst="roundRect">
            <a:avLst>
              <a:gd name="adj" fmla="val 745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8159" y="3781688"/>
            <a:ext cx="472302" cy="407562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505" y="3826962"/>
            <a:ext cx="251894" cy="19376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12515" y="3664858"/>
            <a:ext cx="1440521" cy="5524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IA y ML en la nube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158" y="4625509"/>
            <a:ext cx="2463843" cy="7860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Servicios de inteligencia artificial y aprendizaje automático accesibles para empresas de todos los tamaños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8158" y="5733061"/>
            <a:ext cx="2463843" cy="475489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8158" y="5747667"/>
            <a:ext cx="2463843" cy="4462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FFFFFF"/>
                </a:solidFill>
              </a:rPr>
              <a:t>Democratización</a:t>
            </a:r>
            <a:r>
              <a:rPr sz="1076" b="0">
                <a:solidFill>
                  <a:srgbClr val="FFFFFF"/>
                </a:solidFill>
              </a:rPr>
              <a:t> de tecnologías avanzadas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41030" y="5816644"/>
            <a:ext cx="157434" cy="14817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455646" y="4259426"/>
            <a:ext cx="2857428" cy="2187250"/>
          </a:xfrm>
          <a:prstGeom prst="roundRect">
            <a:avLst>
              <a:gd name="adj" fmla="val 745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693766" y="3781688"/>
            <a:ext cx="472302" cy="407562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27112" y="3826962"/>
            <a:ext cx="251894" cy="19376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08123" y="3664858"/>
            <a:ext cx="1826235" cy="5524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Computación cuántica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3765" y="4510093"/>
            <a:ext cx="2463843" cy="101688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Acceso a procesadores cuánticos vía nube para resolver problemas complejos en investigación y optimización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93765" y="5733061"/>
            <a:ext cx="2463843" cy="475489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93765" y="5747667"/>
            <a:ext cx="2463843" cy="4462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FFFFFF"/>
                </a:solidFill>
              </a:rPr>
              <a:t>Revolución</a:t>
            </a:r>
            <a:r>
              <a:rPr sz="1076" b="0">
                <a:solidFill>
                  <a:srgbClr val="FFFFFF"/>
                </a:solidFill>
              </a:rPr>
              <a:t> en capacidad computacional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836638" y="5829449"/>
            <a:ext cx="157434" cy="115763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160779" y="4259426"/>
            <a:ext cx="2857428" cy="2187250"/>
          </a:xfrm>
          <a:prstGeom prst="roundRect">
            <a:avLst>
              <a:gd name="adj" fmla="val 745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398899" y="3781688"/>
            <a:ext cx="472302" cy="407562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532245" y="3832702"/>
            <a:ext cx="251894" cy="1792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13255" y="3664858"/>
            <a:ext cx="1298831" cy="5524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</a:rPr>
              <a:t>Nube sostenible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8898" y="4510093"/>
            <a:ext cx="2463843" cy="101688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</a:rPr>
              <a:t>Centros de datos energéticamente eficientes, energías renovables y optimización de recursos para reducir huella de carbono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98898" y="5733061"/>
            <a:ext cx="2463843" cy="475489"/>
          </a:xfrm>
          <a:prstGeom prst="roundRect">
            <a:avLst>
              <a:gd name="adj" fmla="val 22857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98898" y="5747667"/>
            <a:ext cx="2463843" cy="4462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FFFFFF"/>
                </a:solidFill>
              </a:rPr>
              <a:t>Responsabilidad</a:t>
            </a:r>
            <a:r>
              <a:rPr sz="1076" b="0">
                <a:solidFill>
                  <a:srgbClr val="FFFFFF"/>
                </a:solidFill>
              </a:rPr>
              <a:t> ambiental y corporativa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541770" y="5822133"/>
            <a:ext cx="157434" cy="1342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175630"/>
            <a:ext cx="6410164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</a:rPr>
              <a:t>El </a:t>
            </a:r>
            <a:r>
              <a:rPr sz="2392" b="1" dirty="0" err="1">
                <a:solidFill>
                  <a:srgbClr val="FFFFFF"/>
                </a:solidFill>
              </a:rPr>
              <a:t>futuro</a:t>
            </a:r>
            <a:r>
              <a:rPr sz="2392" b="1" dirty="0">
                <a:solidFill>
                  <a:srgbClr val="FFFFFF"/>
                </a:solidFill>
              </a:rPr>
              <a:t> de la </a:t>
            </a:r>
            <a:r>
              <a:rPr sz="2392" b="1" dirty="0" err="1">
                <a:solidFill>
                  <a:srgbClr val="FFFFFF"/>
                </a:solidFill>
              </a:rPr>
              <a:t>computación</a:t>
            </a:r>
            <a:r>
              <a:rPr sz="2392" b="1" dirty="0">
                <a:solidFill>
                  <a:srgbClr val="FFFFFF"/>
                </a:solidFill>
              </a:rPr>
              <a:t> </a:t>
            </a:r>
            <a:r>
              <a:rPr sz="2392" b="1" dirty="0" err="1">
                <a:solidFill>
                  <a:srgbClr val="FFFFFF"/>
                </a:solidFill>
              </a:rPr>
              <a:t>en</a:t>
            </a:r>
            <a:r>
              <a:rPr sz="2392" b="1" dirty="0">
                <a:solidFill>
                  <a:srgbClr val="FFFFFF"/>
                </a:solidFill>
              </a:rPr>
              <a:t> la </a:t>
            </a:r>
            <a:r>
              <a:rPr sz="2392" b="1" dirty="0" err="1">
                <a:solidFill>
                  <a:srgbClr val="FFFFFF"/>
                </a:solidFill>
              </a:rPr>
              <a:t>nube</a:t>
            </a:r>
            <a:endParaRPr sz="2392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0561" y="888947"/>
            <a:ext cx="4476638" cy="2968869"/>
          </a:xfrm>
          <a:prstGeom prst="roundRect">
            <a:avLst>
              <a:gd name="adj" fmla="val 633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8680" y="587461"/>
            <a:ext cx="481358" cy="470006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2026" y="691462"/>
            <a:ext cx="256724" cy="1974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3036" y="617948"/>
            <a:ext cx="2398771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Evolución arquitectónica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679" y="1301624"/>
            <a:ext cx="192543" cy="149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1570" y="1242807"/>
            <a:ext cx="3650305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Arquitecturas distribuidas</a:t>
            </a:r>
            <a:r>
              <a:rPr sz="1196" b="0">
                <a:solidFill>
                  <a:srgbClr val="FFFFFF"/>
                </a:solidFill>
              </a:rPr>
              <a:t> más complejas y resilientes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679" y="1704353"/>
            <a:ext cx="192543" cy="1660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1570" y="1652381"/>
            <a:ext cx="2936289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Microservicios</a:t>
            </a:r>
            <a:r>
              <a:rPr sz="1196" b="0">
                <a:solidFill>
                  <a:srgbClr val="FFFFFF"/>
                </a:solidFill>
              </a:rPr>
              <a:t> como estándar de desarrollo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8679" y="2124687"/>
            <a:ext cx="192543" cy="1395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1571" y="2061957"/>
            <a:ext cx="3369512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Edge computing</a:t>
            </a:r>
            <a:r>
              <a:rPr sz="1196" b="0">
                <a:solidFill>
                  <a:srgbClr val="FFFFFF"/>
                </a:solidFill>
              </a:rPr>
              <a:t> complementando la nube central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3972" y="888947"/>
            <a:ext cx="4989348" cy="2968869"/>
          </a:xfrm>
          <a:prstGeom prst="roundRect">
            <a:avLst>
              <a:gd name="adj" fmla="val 633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01616" y="587461"/>
            <a:ext cx="481358" cy="470006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4962" y="670396"/>
            <a:ext cx="256724" cy="2493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06447" y="617948"/>
            <a:ext cx="2270409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Integración tecnológica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1615" y="1441326"/>
            <a:ext cx="1973571" cy="454339"/>
          </a:xfrm>
          <a:prstGeom prst="roundRect">
            <a:avLst>
              <a:gd name="adj" fmla="val 34482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4963" y="1555934"/>
            <a:ext cx="224634" cy="1562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5952" y="1405923"/>
            <a:ext cx="176498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5G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8053" y="1441326"/>
            <a:ext cx="1973571" cy="454339"/>
          </a:xfrm>
          <a:prstGeom prst="roundRect">
            <a:avLst>
              <a:gd name="adj" fmla="val 34482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20926" y="1561889"/>
            <a:ext cx="224634" cy="1416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01916" y="1313911"/>
            <a:ext cx="208588" cy="6628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IoT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615" y="2173868"/>
            <a:ext cx="1973571" cy="626673"/>
          </a:xfrm>
          <a:prstGeom prst="roundRect">
            <a:avLst>
              <a:gd name="adj" fmla="val 25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34963" y="2375881"/>
            <a:ext cx="224634" cy="1074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15952" y="2206023"/>
            <a:ext cx="738084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Blockchain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8053" y="2173868"/>
            <a:ext cx="1973571" cy="626673"/>
          </a:xfrm>
          <a:prstGeom prst="roundRect">
            <a:avLst>
              <a:gd name="adj" fmla="val 25000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120926" y="2348097"/>
            <a:ext cx="224634" cy="17580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01915" y="2222406"/>
            <a:ext cx="1411986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Computación cuántica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01615" y="2997074"/>
            <a:ext cx="192543" cy="1492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44507" y="2938256"/>
            <a:ext cx="2799904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IA generativa</a:t>
            </a:r>
            <a:r>
              <a:rPr sz="1196" b="0">
                <a:solidFill>
                  <a:srgbClr val="FFFFFF"/>
                </a:solidFill>
              </a:rPr>
              <a:t> integrada en servicios cloud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01615" y="3396868"/>
            <a:ext cx="192543" cy="1732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44506" y="3347832"/>
            <a:ext cx="2823972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Automatización avanzada</a:t>
            </a:r>
            <a:r>
              <a:rPr sz="1196" b="0">
                <a:solidFill>
                  <a:srgbClr val="FFFFFF"/>
                </a:solidFill>
              </a:rPr>
              <a:t> de operaciones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4" y="5086350"/>
            <a:ext cx="4637834" cy="1461950"/>
          </a:xfrm>
          <a:prstGeom prst="roundRect">
            <a:avLst>
              <a:gd name="adj" fmla="val 615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48680" y="4435560"/>
            <a:ext cx="481358" cy="470006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82026" y="4531537"/>
            <a:ext cx="256724" cy="21723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63036" y="4466047"/>
            <a:ext cx="2687587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Nuevos modelos de negocio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48679" y="5153637"/>
            <a:ext cx="192543" cy="1395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91571" y="5090907"/>
            <a:ext cx="2920244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Consumo por segundo</a:t>
            </a:r>
            <a:r>
              <a:rPr sz="1196" b="0">
                <a:solidFill>
                  <a:srgbClr val="FFFFFF"/>
                </a:solidFill>
              </a:rPr>
              <a:t> en lugar de por hora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48679" y="5558320"/>
            <a:ext cx="192543" cy="15163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91570" y="5500481"/>
            <a:ext cx="3096742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Economías de nube</a:t>
            </a:r>
            <a:r>
              <a:rPr sz="1196" b="0">
                <a:solidFill>
                  <a:srgbClr val="FFFFFF"/>
                </a:solidFill>
              </a:rPr>
              <a:t> con recursos compartidos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48679" y="5972787"/>
            <a:ext cx="192543" cy="1395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91571" y="5910057"/>
            <a:ext cx="3321376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Nubes sostenibles</a:t>
            </a:r>
            <a:r>
              <a:rPr sz="1196" b="0">
                <a:solidFill>
                  <a:srgbClr val="FFFFFF"/>
                </a:solidFill>
              </a:rPr>
              <a:t> con compensación de carbono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0145" y="5041725"/>
            <a:ext cx="5182534" cy="1822942"/>
          </a:xfrm>
          <a:prstGeom prst="roundRect">
            <a:avLst>
              <a:gd name="adj" fmla="val 615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501616" y="4435560"/>
            <a:ext cx="481358" cy="470006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634962" y="4563638"/>
            <a:ext cx="256724" cy="1382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206447" y="4466047"/>
            <a:ext cx="2495043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FC3F7"/>
                </a:solidFill>
              </a:rPr>
              <a:t>Transformación industrial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01615" y="5507902"/>
            <a:ext cx="1973571" cy="1245515"/>
          </a:xfrm>
          <a:prstGeom prst="roundRect">
            <a:avLst>
              <a:gd name="adj" fmla="val 1257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501715" y="5459166"/>
            <a:ext cx="288815" cy="23155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101675" y="5719235"/>
            <a:ext cx="954695" cy="5155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</a:rPr>
              <a:t>Industria 4.0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34962" y="6184531"/>
            <a:ext cx="1732892" cy="483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Fábricas inteligentes conectadas en tiempo real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7578" y="5507902"/>
            <a:ext cx="1973571" cy="1245515"/>
          </a:xfrm>
          <a:prstGeom prst="roundRect">
            <a:avLst>
              <a:gd name="adj" fmla="val 12578"/>
            </a:avLst>
          </a:prstGeom>
          <a:solidFill>
            <a:srgbClr val="4FC3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987678" y="5454107"/>
            <a:ext cx="288815" cy="24400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97163" y="5719235"/>
            <a:ext cx="954695" cy="5155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</a:rPr>
              <a:t>Salud digital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0449" y="6184531"/>
            <a:ext cx="1732892" cy="4838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Medicina personalizada basada en 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4D8C"/>
            </a:gs>
            <a:gs pos="100000">
              <a:srgbClr val="1A73E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34266" y="0"/>
            <a:ext cx="2857428" cy="2857500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5829300"/>
            <a:ext cx="1904952" cy="1904999"/>
          </a:xfrm>
          <a:prstGeom prst="roundRect">
            <a:avLst>
              <a:gd name="adj" fmla="val 0"/>
            </a:avLst>
          </a:prstGeom>
          <a:solidFill>
            <a:srgbClr val="4FC3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471475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Resumen y agradecimientos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238249"/>
            <a:ext cx="5314817" cy="1666874"/>
          </a:xfrm>
          <a:prstGeom prst="roundRect">
            <a:avLst>
              <a:gd name="adj" fmla="val 1371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18517"/>
            <a:ext cx="304792" cy="2872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33" y="1476375"/>
            <a:ext cx="407659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Transformador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33" y="1866899"/>
            <a:ext cx="4076598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La nube habilita la </a:t>
            </a:r>
            <a:r>
              <a:rPr sz="1196" b="1">
                <a:solidFill>
                  <a:srgbClr val="FFFFFF"/>
                </a:solidFill>
              </a:rPr>
              <a:t>transformación digital</a:t>
            </a:r>
            <a:r>
              <a:rPr sz="1196" b="0">
                <a:solidFill>
                  <a:srgbClr val="FFFFFF"/>
                </a:solidFill>
              </a:rPr>
              <a:t> al convertir CAPEX en OPEX y democratizar el acceso a tecnología avanzada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4" y="1238249"/>
            <a:ext cx="5314817" cy="1666874"/>
          </a:xfrm>
          <a:prstGeom prst="roundRect">
            <a:avLst>
              <a:gd name="adj" fmla="val 1371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57788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1639032"/>
            <a:ext cx="304792" cy="246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19769" y="1476375"/>
            <a:ext cx="407659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Elección estratégica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769" y="1866899"/>
            <a:ext cx="4076598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Seleccionar el </a:t>
            </a:r>
            <a:r>
              <a:rPr sz="1196" b="1">
                <a:solidFill>
                  <a:srgbClr val="FFFFFF"/>
                </a:solidFill>
              </a:rPr>
              <a:t>modelo y servicios adecuados</a:t>
            </a:r>
            <a:r>
              <a:rPr sz="1196" b="0">
                <a:solidFill>
                  <a:srgbClr val="FFFFFF"/>
                </a:solidFill>
              </a:rPr>
              <a:t> según necesidades específicas es clave para maximizar beneficios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143250"/>
            <a:ext cx="5314817" cy="1666874"/>
          </a:xfrm>
          <a:prstGeom prst="roundRect">
            <a:avLst>
              <a:gd name="adj" fmla="val 1371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4852" y="3381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199" y="3523517"/>
            <a:ext cx="304792" cy="2872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33" y="3381375"/>
            <a:ext cx="407659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Innovación y seguridad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33" y="3771900"/>
            <a:ext cx="4076598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Encontrar el </a:t>
            </a:r>
            <a:r>
              <a:rPr sz="1196" b="1">
                <a:solidFill>
                  <a:srgbClr val="FFFFFF"/>
                </a:solidFill>
              </a:rPr>
              <a:t>equilibrio</a:t>
            </a:r>
            <a:r>
              <a:rPr sz="1196" b="0">
                <a:solidFill>
                  <a:srgbClr val="FFFFFF"/>
                </a:solidFill>
              </a:rPr>
              <a:t> entre agilidad innovadora y políticas de seguridad robustas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4" y="3143250"/>
            <a:ext cx="5314817" cy="1666874"/>
          </a:xfrm>
          <a:prstGeom prst="roundRect">
            <a:avLst>
              <a:gd name="adj" fmla="val 1371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57788" y="3381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35" y="3585063"/>
            <a:ext cx="304792" cy="1641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19769" y="3381375"/>
            <a:ext cx="407659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</a:rPr>
              <a:t>Tendencias futuras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769" y="3771900"/>
            <a:ext cx="4076598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1">
                <a:solidFill>
                  <a:srgbClr val="FFFFFF"/>
                </a:solidFill>
              </a:rPr>
              <a:t>Multicloud, edge computing</a:t>
            </a:r>
            <a:r>
              <a:rPr sz="1196" b="0">
                <a:solidFill>
                  <a:srgbClr val="FFFFFF"/>
                </a:solidFill>
              </a:rPr>
              <a:t> e IA en la nube seguirán redefiniendo el panorama tecnológico empresarial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286375"/>
            <a:ext cx="10858228" cy="1876424"/>
          </a:xfrm>
          <a:prstGeom prst="roundRect">
            <a:avLst>
              <a:gd name="adj" fmla="val 12182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2465</Words>
  <Application>Microsoft Office PowerPoint</Application>
  <PresentationFormat>Panorámica</PresentationFormat>
  <Paragraphs>486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LOPEZ RESUSTA, LORENA</cp:lastModifiedBy>
  <cp:revision>2</cp:revision>
  <dcterms:created xsi:type="dcterms:W3CDTF">2013-01-27T09:14:16Z</dcterms:created>
  <dcterms:modified xsi:type="dcterms:W3CDTF">2025-11-06T11:57:50Z</dcterms:modified>
  <cp:category/>
</cp:coreProperties>
</file>